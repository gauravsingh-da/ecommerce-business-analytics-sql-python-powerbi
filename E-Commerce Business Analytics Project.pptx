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3"/>
    <p:sldId id="257" r:id="rId4"/>
    <p:sldId id="258" r:id="rId5"/>
    <p:sldId id="259" r:id="rId6"/>
    <p:sldId id="260" r:id="rId7"/>
    <p:sldId id="263" r:id="rId8"/>
    <p:sldId id="261" r:id="rId9"/>
    <p:sldId id="264" r:id="rId10"/>
    <p:sldId id="265" r:id="rId11"/>
    <p:sldId id="266" r:id="rId12"/>
    <p:sldId id="268" r:id="rId13"/>
    <p:sldId id="269" r:id="rId14"/>
    <p:sldId id="271" r:id="rId15"/>
    <p:sldId id="270" r:id="rId16"/>
    <p:sldId id="267" r:id="rId17"/>
    <p:sldId id="262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8" r:id="rId34"/>
    <p:sldId id="289" r:id="rId35"/>
    <p:sldId id="287" r:id="rId36"/>
    <p:sldId id="290" r:id="rId38"/>
    <p:sldId id="291" r:id="rId39"/>
    <p:sldId id="293" r:id="rId40"/>
    <p:sldId id="294" r:id="rId41"/>
    <p:sldId id="295" r:id="rId42"/>
    <p:sldId id="292" r:id="rId43"/>
    <p:sldId id="296" r:id="rId44"/>
    <p:sldId id="297" r:id="rId45"/>
    <p:sldId id="298" r:id="rId46"/>
    <p:sldId id="299" r:id="rId47"/>
    <p:sldId id="300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3.xml"/><Relationship Id="rId49" Type="http://schemas.openxmlformats.org/officeDocument/2006/relationships/presProps" Target="presProps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1009015" y="452755"/>
            <a:ext cx="9976485" cy="152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3344545" y="370205"/>
            <a:ext cx="55022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 b="1"/>
              <a:t>E-Commerce Business Analytics (Project)</a:t>
            </a:r>
            <a:endParaRPr lang="en-US" altLang="en-US" sz="2400" b="1"/>
          </a:p>
        </p:txBody>
      </p:sp>
      <p:sp>
        <p:nvSpPr>
          <p:cNvPr id="14" name="Text Box 13"/>
          <p:cNvSpPr txBox="1"/>
          <p:nvPr/>
        </p:nvSpPr>
        <p:spPr>
          <a:xfrm>
            <a:off x="600710" y="12966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Name</a:t>
            </a:r>
            <a:r>
              <a:rPr lang="en-US" altLang="en-US"/>
              <a:t>: Gaurav Singh</a:t>
            </a:r>
            <a:endParaRPr lang="en-US" altLang="en-US"/>
          </a:p>
          <a:p>
            <a:r>
              <a:rPr lang="en-US" altLang="en-US" b="1"/>
              <a:t>Role</a:t>
            </a:r>
            <a:r>
              <a:rPr lang="en-US" altLang="en-US"/>
              <a:t>: Data Analyst (Personal Project) </a:t>
            </a:r>
            <a:endParaRPr lang="en-US" altLang="en-US"/>
          </a:p>
        </p:txBody>
      </p:sp>
      <p:sp>
        <p:nvSpPr>
          <p:cNvPr id="15" name="Text Box 14"/>
          <p:cNvSpPr txBox="1"/>
          <p:nvPr/>
        </p:nvSpPr>
        <p:spPr>
          <a:xfrm>
            <a:off x="584200" y="2323465"/>
            <a:ext cx="917194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Description</a:t>
            </a:r>
            <a:r>
              <a:rPr lang="en-US" altLang="en-US"/>
              <a:t>: This project focuses on analyzing e-commerce data to uncover meaningful insights related to sales performance, customer behavior, product trends, and overall business operations.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Using SQL for data extraction and Python libraries such as Matplotlib, Seaborn, and Plotly for visualization, the analysis aims to transform raw transactional data into actionable business insights.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The project covers key areas including sales analysis, customer segmentation, product performance, payment trends, seller evaluation, and customer reviews.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The goal of this project is to support data-driven decision-making by identifying growth opportunities, improving customer experience, and optimizing overall business performance.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64515" y="1047115"/>
            <a:ext cx="9695180" cy="3410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The e-commerce business is generating a large volume of transactional data, but lacks a structured approach to analyze and utilize this data for strategic decision-making.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The key challenges include: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Understanding overall sales performance and revenue trends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Identifying top-performing products, categories, and sellers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Analyzing customer behavior, retention, and lifetime value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Evaluating payment preferences and transaction patterns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Detecting low-performing sellers and products impacting customer satisfaction.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r>
              <a:rPr lang="en-US" altLang="en-US"/>
              <a:t>Without proper analysis, the business may miss opportunities to increase revenue, improve customer experience, and optimize operations</a:t>
            </a: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4850765" y="297815"/>
            <a:ext cx="24904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ym typeface="+mn-ea"/>
              </a:rPr>
              <a:t>Business Problem </a:t>
            </a:r>
            <a:endParaRPr lang="en-US" altLang="en-US" sz="2400" b="1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319395" y="360045"/>
            <a:ext cx="15532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ym typeface="+mn-ea"/>
              </a:rPr>
              <a:t>Objective </a:t>
            </a:r>
            <a:endParaRPr lang="en-US" altLang="en-US" sz="2400" b="1"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14045" y="1114425"/>
            <a:ext cx="899731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The objective of this analysis is to transform raw e-commerce data into actionable insights that support business growth and decision-making.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The analysis aims to: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Measure key business metrics such as revenue, orders, and average order value (AOV)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Identify top-performing products, categories, and sellers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Understand customer behavior, retention, and lifetime value (CLV)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Analyze sales trends over time (monthly and yearly)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Evaluate payment methods and transaction patterns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Identify areas of improvement in seller performance and customer satisfaction.</a:t>
            </a:r>
            <a:endParaRPr lang="en-US" altLang="en-US"/>
          </a:p>
          <a:p>
            <a:pPr indent="0">
              <a:buFont typeface="Arial" panose="020B0604020202020204" pitchFamily="34" charset="0"/>
              <a:buNone/>
            </a:pPr>
            <a:endParaRPr lang="en-US" altLang="en-US"/>
          </a:p>
          <a:p>
            <a:r>
              <a:rPr lang="en-US" altLang="en-US"/>
              <a:t>The ultimate goal is to provide data-driven recommendations to increase revenue, improve efficiency, and enhance the overall customer experience.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876675" y="407670"/>
            <a:ext cx="42100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ym typeface="+mn-ea"/>
              </a:rPr>
              <a:t> 1. Business Metrics Overview</a:t>
            </a:r>
            <a:endParaRPr lang="en-US" altLang="en-US" sz="2400" b="1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28320" y="1443990"/>
            <a:ext cx="1016952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/>
              <a:t>Total Orders:</a:t>
            </a:r>
            <a:r>
              <a:rPr lang="en-US" altLang="en-US"/>
              <a:t> The platform has processed 1,000,000 orders, indicating strong transaction volume and active customer engagement.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/>
              <a:t>Total Revenue: </a:t>
            </a:r>
            <a:r>
              <a:rPr lang="en-US" altLang="en-US"/>
              <a:t>Total revenue generated is ₹405,344,052, reflecting healthy business growth and market traction.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10" name="Picture 9" descr="newplot (48)"/>
          <p:cNvPicPr>
            <a:picLocks noChangeAspect="1"/>
          </p:cNvPicPr>
          <p:nvPr/>
        </p:nvPicPr>
        <p:blipFill>
          <a:blip r:embed="rId1"/>
          <a:srcRect l="44088" t="25360" r="42591" b="25440"/>
          <a:stretch>
            <a:fillRect/>
          </a:stretch>
        </p:blipFill>
        <p:spPr>
          <a:xfrm>
            <a:off x="5290820" y="2257425"/>
            <a:ext cx="1390650" cy="1171575"/>
          </a:xfrm>
          <a:prstGeom prst="rect">
            <a:avLst/>
          </a:prstGeom>
        </p:spPr>
      </p:pic>
      <p:pic>
        <p:nvPicPr>
          <p:cNvPr id="11" name="Picture 10" descr="newplot (49)"/>
          <p:cNvPicPr>
            <a:picLocks noChangeAspect="1"/>
          </p:cNvPicPr>
          <p:nvPr/>
        </p:nvPicPr>
        <p:blipFill>
          <a:blip r:embed="rId2"/>
          <a:srcRect l="29422" t="27200" r="27512" b="24800"/>
          <a:stretch>
            <a:fillRect/>
          </a:stretch>
        </p:blipFill>
        <p:spPr>
          <a:xfrm>
            <a:off x="3876675" y="4999355"/>
            <a:ext cx="44958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14045" y="638175"/>
            <a:ext cx="1043559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/>
              <a:t>Average Order Value (AOV): </a:t>
            </a:r>
            <a:r>
              <a:rPr lang="en-US" altLang="en-US"/>
              <a:t>Average order value stands at ₹405.34, suggesting moderate spending per customer and potential for upselling strategies.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/>
              <a:t>Total Customers:</a:t>
            </a:r>
            <a:r>
              <a:rPr lang="en-US" altLang="en-US"/>
              <a:t> There are 200,000 registered customers, highlighting a sizable and growing customer base.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8" name="Picture 7" descr="newplot (50)"/>
          <p:cNvPicPr>
            <a:picLocks noChangeAspect="1"/>
          </p:cNvPicPr>
          <p:nvPr/>
        </p:nvPicPr>
        <p:blipFill>
          <a:blip r:embed="rId1"/>
          <a:srcRect l="37086" t="23200" r="37549" b="26800"/>
          <a:stretch>
            <a:fillRect/>
          </a:stretch>
        </p:blipFill>
        <p:spPr>
          <a:xfrm>
            <a:off x="4507865" y="2027555"/>
            <a:ext cx="2647950" cy="1190625"/>
          </a:xfrm>
          <a:prstGeom prst="rect">
            <a:avLst/>
          </a:prstGeom>
        </p:spPr>
      </p:pic>
      <p:pic>
        <p:nvPicPr>
          <p:cNvPr id="9" name="Picture 8" descr="newplot (51)"/>
          <p:cNvPicPr>
            <a:picLocks noChangeAspect="1"/>
          </p:cNvPicPr>
          <p:nvPr/>
        </p:nvPicPr>
        <p:blipFill>
          <a:blip r:embed="rId2"/>
          <a:srcRect l="37981" t="26400" r="36655" b="24800"/>
          <a:stretch>
            <a:fillRect/>
          </a:stretch>
        </p:blipFill>
        <p:spPr>
          <a:xfrm>
            <a:off x="4507865" y="5048250"/>
            <a:ext cx="2647950" cy="1162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05155" y="542925"/>
            <a:ext cx="1144397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/>
              <a:t>Total Sellers:</a:t>
            </a:r>
            <a:r>
              <a:rPr lang="en-US" altLang="en-US"/>
              <a:t> The marketplace includes 10,000 sellers, demonstrating a diverse seller ecosystem.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/>
              <a:t>Total Products: </a:t>
            </a:r>
            <a:r>
              <a:rPr lang="en-US" altLang="en-US"/>
              <a:t>50,000 products are listed, providing a wide variety for customer choice and inventory opportunities.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/>
              <a:t>Total Quantity Sold:</a:t>
            </a:r>
            <a:r>
              <a:rPr lang="en-US" altLang="en-US"/>
              <a:t> 2,999,255 items have been sold, showing strong product turnover and sales activity.</a:t>
            </a:r>
            <a:endParaRPr lang="en-US" altLang="en-US"/>
          </a:p>
        </p:txBody>
      </p:sp>
      <p:pic>
        <p:nvPicPr>
          <p:cNvPr id="10" name="Picture 9" descr="newplot (52)"/>
          <p:cNvPicPr>
            <a:picLocks noChangeAspect="1"/>
          </p:cNvPicPr>
          <p:nvPr/>
        </p:nvPicPr>
        <p:blipFill>
          <a:blip r:embed="rId1"/>
          <a:srcRect l="39580" t="28000" r="38047" b="26800"/>
          <a:stretch>
            <a:fillRect/>
          </a:stretch>
        </p:blipFill>
        <p:spPr>
          <a:xfrm>
            <a:off x="4902835" y="1188720"/>
            <a:ext cx="2335530" cy="1076325"/>
          </a:xfrm>
          <a:prstGeom prst="rect">
            <a:avLst/>
          </a:prstGeom>
        </p:spPr>
      </p:pic>
      <p:pic>
        <p:nvPicPr>
          <p:cNvPr id="11" name="Picture 10" descr="newplot (53)"/>
          <p:cNvPicPr>
            <a:picLocks noChangeAspect="1"/>
          </p:cNvPicPr>
          <p:nvPr/>
        </p:nvPicPr>
        <p:blipFill>
          <a:blip r:embed="rId2"/>
          <a:srcRect l="38571" t="24000" r="36861" b="27200"/>
          <a:stretch>
            <a:fillRect/>
          </a:stretch>
        </p:blipFill>
        <p:spPr>
          <a:xfrm>
            <a:off x="4787900" y="3143250"/>
            <a:ext cx="2564765" cy="1162050"/>
          </a:xfrm>
          <a:prstGeom prst="rect">
            <a:avLst/>
          </a:prstGeom>
        </p:spPr>
      </p:pic>
      <p:pic>
        <p:nvPicPr>
          <p:cNvPr id="12" name="Picture 11" descr="newplot (54)"/>
          <p:cNvPicPr>
            <a:picLocks noChangeAspect="1"/>
          </p:cNvPicPr>
          <p:nvPr/>
        </p:nvPicPr>
        <p:blipFill>
          <a:blip r:embed="rId3"/>
          <a:srcRect l="34580" t="24400" r="33212" b="29600"/>
          <a:stretch>
            <a:fillRect/>
          </a:stretch>
        </p:blipFill>
        <p:spPr>
          <a:xfrm>
            <a:off x="4486275" y="5326380"/>
            <a:ext cx="3362325" cy="10953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4924425" y="417195"/>
            <a:ext cx="23431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ym typeface="+mn-ea"/>
              </a:rPr>
              <a:t>2.  Sales Analysis</a:t>
            </a:r>
            <a:endParaRPr lang="en-US" altLang="en-US" sz="2400" b="1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80695" y="1122045"/>
            <a:ext cx="1016825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Top 10 Products by Revenue:</a:t>
            </a:r>
            <a:endParaRPr lang="en-US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top 10 products generate a significant portion of total revenue, with the highest-grossing product </a:t>
            </a:r>
            <a:r>
              <a:rPr lang="en-US" altLang="en-US" b="1">
                <a:highlight>
                  <a:srgbClr val="FFFF00"/>
                </a:highlight>
              </a:rPr>
              <a:t>(prd_asmfojja893v)</a:t>
            </a:r>
            <a:r>
              <a:rPr lang="en-US" altLang="en-US"/>
              <a:t> earning </a:t>
            </a:r>
            <a:r>
              <a:rPr lang="en-US" altLang="en-US" b="1">
                <a:highlight>
                  <a:srgbClr val="FFFF00"/>
                </a:highlight>
              </a:rPr>
              <a:t>₹32,342.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Revenue among the top 10 products ranges from </a:t>
            </a:r>
            <a:r>
              <a:rPr lang="en-US" altLang="en-US" b="1">
                <a:highlight>
                  <a:srgbClr val="FFFF00"/>
                </a:highlight>
              </a:rPr>
              <a:t>₹28,651 to ₹32,342</a:t>
            </a:r>
            <a:r>
              <a:rPr lang="en-US" altLang="en-US"/>
              <a:t> indicating multiple strong contributors.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indent="0">
              <a:buNone/>
            </a:pPr>
            <a:r>
              <a:rPr lang="en-US" altLang="en-US" b="1"/>
              <a:t>      Actionable Insights:</a:t>
            </a:r>
            <a:endParaRPr lang="en-US" altLang="en-US" b="1"/>
          </a:p>
          <a:p>
            <a:pPr marL="342900" indent="-342900">
              <a:buAutoNum type="arabicPeriod"/>
            </a:pPr>
            <a:r>
              <a:rPr lang="en-US" altLang="en-US"/>
              <a:t>Focus marketing, inventory, and promotions on these high-revenue products.</a:t>
            </a:r>
            <a:endParaRPr lang="en-US" altLang="en-US"/>
          </a:p>
        </p:txBody>
      </p:sp>
      <p:pic>
        <p:nvPicPr>
          <p:cNvPr id="8" name="Picture 7" descr="newplot (55)"/>
          <p:cNvPicPr>
            <a:picLocks noChangeAspect="1"/>
          </p:cNvPicPr>
          <p:nvPr/>
        </p:nvPicPr>
        <p:blipFill>
          <a:blip r:embed="rId1"/>
          <a:srcRect t="6600" r="5797" b="6000"/>
          <a:stretch>
            <a:fillRect/>
          </a:stretch>
        </p:blipFill>
        <p:spPr>
          <a:xfrm>
            <a:off x="2365375" y="3515360"/>
            <a:ext cx="7731760" cy="32727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520065" y="452755"/>
            <a:ext cx="978535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Top 10 Products by Quantity Sold: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product with the highest quantity sold </a:t>
            </a:r>
            <a:r>
              <a:rPr lang="en-US" altLang="en-US" b="1">
                <a:highlight>
                  <a:srgbClr val="FFFF00"/>
                </a:highlight>
              </a:rPr>
              <a:t>(prd_inhlw9yj9cyf)</a:t>
            </a:r>
            <a:r>
              <a:rPr lang="en-US" altLang="en-US"/>
              <a:t> sold </a:t>
            </a:r>
            <a:r>
              <a:rPr lang="en-US" altLang="en-US" b="1">
                <a:highlight>
                  <a:srgbClr val="FFFF00"/>
                </a:highlight>
              </a:rPr>
              <a:t>113 units</a:t>
            </a:r>
            <a:r>
              <a:rPr lang="en-US" altLang="en-US"/>
              <a:t>, while most top products sold between </a:t>
            </a:r>
            <a:r>
              <a:rPr lang="en-US" altLang="en-US" b="1">
                <a:highlight>
                  <a:srgbClr val="FFFF00"/>
                </a:highlight>
              </a:rPr>
              <a:t>105–113 units.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Products appearing in both revenue and quantity lists </a:t>
            </a:r>
            <a:r>
              <a:rPr lang="en-US" altLang="en-US" b="1">
                <a:highlight>
                  <a:srgbClr val="FFFF00"/>
                </a:highlight>
              </a:rPr>
              <a:t>("prd_q98zuz7t33nq", "prd_66ipyw7n6iqr")</a:t>
            </a:r>
            <a:r>
              <a:rPr lang="en-US" altLang="en-US"/>
              <a:t> show a balance of high value + high demand.</a:t>
            </a:r>
            <a:endParaRPr lang="en-US" altLang="en-US"/>
          </a:p>
          <a:p>
            <a:endParaRPr lang="en-US" altLang="en-US"/>
          </a:p>
          <a:p>
            <a:pPr indent="0">
              <a:buNone/>
            </a:pPr>
            <a:r>
              <a:rPr lang="en-US" altLang="en-US" b="1">
                <a:sym typeface="+mn-ea"/>
              </a:rPr>
              <a:t>       Actionable Insights:</a:t>
            </a:r>
            <a:endParaRPr lang="en-US" altLang="en-US" b="1"/>
          </a:p>
          <a:p>
            <a:pPr marL="342900" indent="-342900">
              <a:buAutoNum type="arabicPeriod"/>
            </a:pPr>
            <a:r>
              <a:rPr lang="en-US" altLang="en-US"/>
              <a:t>Monitor inventory for these high-demand items to avoid stockouts.</a:t>
            </a:r>
            <a:endParaRPr lang="en-US" altLang="en-US"/>
          </a:p>
        </p:txBody>
      </p:sp>
      <p:pic>
        <p:nvPicPr>
          <p:cNvPr id="7" name="Picture 6" descr="newplot (56)"/>
          <p:cNvPicPr>
            <a:picLocks noChangeAspect="1"/>
          </p:cNvPicPr>
          <p:nvPr/>
        </p:nvPicPr>
        <p:blipFill>
          <a:blip r:embed="rId1"/>
          <a:srcRect l="3114" t="5040" r="1283" b="6547"/>
          <a:stretch>
            <a:fillRect/>
          </a:stretch>
        </p:blipFill>
        <p:spPr>
          <a:xfrm>
            <a:off x="1546225" y="3156585"/>
            <a:ext cx="8509635" cy="35902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405130" y="309880"/>
            <a:ext cx="1068260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Top 10 Categories by Revenue:</a:t>
            </a:r>
            <a:endParaRPr lang="en-US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top 10 categories contributing the most revenue are: </a:t>
            </a:r>
            <a:r>
              <a:rPr lang="en-US" altLang="en-US" b="1">
                <a:solidFill>
                  <a:schemeClr val="tx1"/>
                </a:solidFill>
                <a:highlight>
                  <a:srgbClr val="FFFF00"/>
                </a:highlight>
              </a:rPr>
              <a:t>"Home","Books","Health","Garden","Music","Grocery","Tools", "Movies","Fashion","Jewelry"</a:t>
            </a:r>
            <a:r>
              <a:rPr lang="en-US" altLang="en-US" b="1">
                <a:solidFill>
                  <a:schemeClr val="tx1"/>
                </a:solidFill>
              </a:rPr>
              <a:t>.</a:t>
            </a:r>
            <a:endParaRPr lang="en-US" altLang="en-US">
              <a:solidFill>
                <a:srgbClr val="FF0000"/>
              </a:solidFill>
            </a:endParaRPr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These categories are key revenue drivers for the business.</a:t>
            </a:r>
            <a:endParaRPr lang="en-US" altLang="en-US"/>
          </a:p>
          <a:p>
            <a:endParaRPr lang="en-US" altLang="en-US"/>
          </a:p>
          <a:p>
            <a:pPr indent="0">
              <a:buNone/>
            </a:pPr>
            <a:r>
              <a:rPr lang="en-US" altLang="en-US" b="1">
                <a:sym typeface="+mn-ea"/>
              </a:rPr>
              <a:t>      Actionable Insights:</a:t>
            </a:r>
            <a:endParaRPr lang="en-US" altLang="en-US" b="1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altLang="en-US"/>
              <a:t>Focus marketing, promotions, and bundled offers on these top-performing categories to further increase sales and customer engagement.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5" name="Picture 4" descr="newplot (57)"/>
          <p:cNvPicPr>
            <a:picLocks noChangeAspect="1"/>
          </p:cNvPicPr>
          <p:nvPr/>
        </p:nvPicPr>
        <p:blipFill>
          <a:blip r:embed="rId1"/>
          <a:srcRect l="2816" t="5027" r="1825" b="5800"/>
          <a:stretch>
            <a:fillRect/>
          </a:stretch>
        </p:blipFill>
        <p:spPr>
          <a:xfrm>
            <a:off x="1491615" y="2960370"/>
            <a:ext cx="8996680" cy="38379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23190" y="332105"/>
            <a:ext cx="1180084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 Monthly Revenue Trend: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monthly revenue from 2019 to 2024 shows a stable and consistent trend, indicating a well-performing and mature business.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Revenue remains within a narrow range of approximately </a:t>
            </a:r>
            <a:r>
              <a:rPr lang="en-US" altLang="en-US" b="1">
                <a:highlight>
                  <a:srgbClr val="FFFF00"/>
                </a:highlight>
              </a:rPr>
              <a:t>₹5.1M to ₹5.8M per month</a:t>
            </a:r>
            <a:r>
              <a:rPr lang="en-US" altLang="en-US"/>
              <a:t>, reflecting low volatility and predictable performance.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Peak revenue is generally observed in</a:t>
            </a:r>
            <a:r>
              <a:rPr lang="en-US" altLang="en-US" b="1">
                <a:highlight>
                  <a:srgbClr val="FFFF00"/>
                </a:highlight>
              </a:rPr>
              <a:t> July and December,</a:t>
            </a:r>
            <a:r>
              <a:rPr lang="en-US" altLang="en-US"/>
              <a:t> indicating strong seasonal demand during mid-year and year-end periods.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February consistently records lower revenue across multiple years, making it a recurring low-performance month.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Minor fluctuations are observed in other months, but overall revenue remains fairly stable throughout the year.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      Actionable Insights:</a:t>
            </a:r>
            <a:endParaRPr lang="en-US" altLang="en-US" b="1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altLang="en-US"/>
              <a:t>Boost Sales in Low Months (February):</a:t>
            </a:r>
            <a:endParaRPr lang="en-US" altLang="en-US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altLang="en-US"/>
              <a:t>Introduce discounts, offers, and marketing campaigns to increase demand.</a:t>
            </a:r>
            <a:endParaRPr lang="en-US" altLang="en-US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altLang="en-US"/>
              <a:t>Maximize Peak Months (July, December):</a:t>
            </a:r>
            <a:endParaRPr lang="en-US" altLang="en-US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altLang="en-US"/>
              <a:t>Increase inventory, promotions, and ad spend to capitalize on high demand.</a:t>
            </a:r>
            <a:endParaRPr lang="en-US" altLang="en-US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altLang="en-US"/>
              <a:t>Improve Revenue Consistency:</a:t>
            </a:r>
            <a:endParaRPr lang="en-US" altLang="en-US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altLang="en-US"/>
              <a:t>Use bundle offers and cross-selling strategies to reduce minor fluctuations.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newplot (58)"/>
          <p:cNvPicPr>
            <a:picLocks noChangeAspect="1"/>
          </p:cNvPicPr>
          <p:nvPr/>
        </p:nvPicPr>
        <p:blipFill>
          <a:blip r:embed="rId1"/>
          <a:srcRect t="9148" r="6369" b="7093"/>
          <a:stretch>
            <a:fillRect/>
          </a:stretch>
        </p:blipFill>
        <p:spPr>
          <a:xfrm>
            <a:off x="827405" y="401320"/>
            <a:ext cx="9774555" cy="287210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56210" y="4027170"/>
            <a:ext cx="1163066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Yearly Revenue Growth 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yearly revenue from</a:t>
            </a:r>
            <a:r>
              <a:rPr lang="en-US" altLang="en-US"/>
              <a:t> 2019 to 2024 shows relatively stable performance, ranging between </a:t>
            </a:r>
            <a:r>
              <a:rPr lang="en-US" altLang="en-US" b="1">
                <a:highlight>
                  <a:srgbClr val="FFFF00"/>
                </a:highlight>
              </a:rPr>
              <a:t>₹67.2M to ₹68.0M</a:t>
            </a:r>
            <a:r>
              <a:rPr lang="en-US" altLang="en-US"/>
              <a:t> per year.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Highest revenue was recorded in </a:t>
            </a:r>
            <a:r>
              <a:rPr lang="en-US" altLang="en-US" b="1">
                <a:highlight>
                  <a:srgbClr val="FFFF00"/>
                </a:highlight>
              </a:rPr>
              <a:t>2020 (₹68.03M)</a:t>
            </a:r>
            <a:r>
              <a:rPr lang="en-US" altLang="en-US"/>
              <a:t>, while </a:t>
            </a:r>
            <a:r>
              <a:rPr lang="en-US" altLang="en-US" b="1">
                <a:highlight>
                  <a:srgbClr val="FFFF00"/>
                </a:highlight>
              </a:rPr>
              <a:t>2021 (₹67.38M) and 2022 (₹67.42M)</a:t>
            </a:r>
            <a:r>
              <a:rPr lang="en-US" altLang="en-US"/>
              <a:t> show slight dips, indicating minor fluctuations year-over-year.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Overall, the revenue trend indicates consistent business growth with no significant decline, reflecting a mature and stable marketplace.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298450" y="339725"/>
            <a:ext cx="1121727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  Actionable Insights:</a:t>
            </a:r>
            <a:endParaRPr lang="en-US" altLang="en-US" b="1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altLang="en-US"/>
              <a:t>Maintain strategies that supported consistent revenue in past years.</a:t>
            </a:r>
            <a:endParaRPr lang="en-US" altLang="en-US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altLang="en-US"/>
              <a:t>Investigate the slight dips (2021–2022) to see if external factors or seasonal variations affected sales.</a:t>
            </a:r>
            <a:endParaRPr lang="en-US" altLang="en-US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altLang="en-US"/>
              <a:t>Explore new promotions, product launches, or seasonal campaigns to increase growth in flat revenue years.</a:t>
            </a:r>
            <a:endParaRPr lang="en-US" altLang="en-US"/>
          </a:p>
          <a:p>
            <a:pPr marL="342900" indent="-342900">
              <a:buAutoNum type="arabicPeriod"/>
            </a:pPr>
            <a:endParaRPr lang="en-US"/>
          </a:p>
        </p:txBody>
      </p:sp>
      <p:pic>
        <p:nvPicPr>
          <p:cNvPr id="4" name="Picture 3" descr="newplot (59)"/>
          <p:cNvPicPr>
            <a:picLocks noChangeAspect="1"/>
          </p:cNvPicPr>
          <p:nvPr/>
        </p:nvPicPr>
        <p:blipFill>
          <a:blip r:embed="rId1"/>
          <a:srcRect t="2947"/>
          <a:stretch>
            <a:fillRect/>
          </a:stretch>
        </p:blipFill>
        <p:spPr>
          <a:xfrm>
            <a:off x="558800" y="1983105"/>
            <a:ext cx="10439400" cy="46221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12725" y="241935"/>
            <a:ext cx="1166558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 Day of Week with Highest Orders 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Order data shows that </a:t>
            </a:r>
            <a:r>
              <a:rPr lang="en-US" altLang="en-US" b="1">
                <a:highlight>
                  <a:srgbClr val="FFFF00"/>
                </a:highlight>
              </a:rPr>
              <a:t>Sunday</a:t>
            </a:r>
            <a:r>
              <a:rPr lang="en-US" altLang="en-US"/>
              <a:t> has the highest number of orders </a:t>
            </a:r>
            <a:r>
              <a:rPr lang="en-US" altLang="en-US" b="1">
                <a:highlight>
                  <a:srgbClr val="FFFF00"/>
                </a:highlight>
              </a:rPr>
              <a:t>(143,407)</a:t>
            </a:r>
            <a:r>
              <a:rPr lang="en-US" altLang="en-US"/>
              <a:t>, closely followed by </a:t>
            </a:r>
            <a:r>
              <a:rPr lang="en-US" altLang="en-US" b="1">
                <a:highlight>
                  <a:srgbClr val="FFFF00"/>
                </a:highlight>
              </a:rPr>
              <a:t>Saturday (143,093)</a:t>
            </a:r>
            <a:r>
              <a:rPr lang="en-US" altLang="en-US"/>
              <a:t> and Friday (143,022).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weekend sees slightly higher order volumes, while weekdays have relatively lower but stable orders, with </a:t>
            </a:r>
            <a:r>
              <a:rPr lang="en-US" altLang="en-US" b="1">
                <a:highlight>
                  <a:srgbClr val="FFFF00"/>
                </a:highlight>
              </a:rPr>
              <a:t>Thursday</a:t>
            </a:r>
            <a:r>
              <a:rPr lang="en-US" altLang="en-US"/>
              <a:t> being the </a:t>
            </a:r>
            <a:r>
              <a:rPr lang="en-US" altLang="en-US" b="1">
                <a:highlight>
                  <a:srgbClr val="FFFF00"/>
                </a:highlight>
              </a:rPr>
              <a:t>lowest (142,238)</a:t>
            </a:r>
            <a:r>
              <a:rPr lang="en-US" altLang="en-US"/>
              <a:t>.</a:t>
            </a:r>
            <a:endParaRPr lang="en-US" altLang="en-US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/>
              <a:t> Actionable Insights:</a:t>
            </a:r>
            <a:endParaRPr lang="en-US" altLang="en-US" b="1"/>
          </a:p>
          <a:p>
            <a:pPr marL="342900" indent="-342900">
              <a:buAutoNum type="arabicPeriod"/>
            </a:pPr>
            <a:r>
              <a:rPr lang="en-US" altLang="en-US"/>
              <a:t>Optimize marketing campaigns around weekends to maximize conversion, as customer activity peaks then.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Ensure inventory and delivery logistics are fully prepared for high-volume days (Fri–Sun).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Consider running special offers or flash sales on weekdays to boost engagement during lower-order days.</a:t>
            </a:r>
            <a:endParaRPr lang="en-US" altLang="en-US"/>
          </a:p>
        </p:txBody>
      </p:sp>
      <p:pic>
        <p:nvPicPr>
          <p:cNvPr id="3" name="Picture 2" descr="newplot (60)"/>
          <p:cNvPicPr>
            <a:picLocks noChangeAspect="1"/>
          </p:cNvPicPr>
          <p:nvPr/>
        </p:nvPicPr>
        <p:blipFill>
          <a:blip r:embed="rId1"/>
          <a:srcRect t="6000" b="7611"/>
          <a:stretch>
            <a:fillRect/>
          </a:stretch>
        </p:blipFill>
        <p:spPr>
          <a:xfrm>
            <a:off x="598170" y="3599815"/>
            <a:ext cx="10439400" cy="29622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641215" y="334645"/>
            <a:ext cx="29089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ym typeface="+mn-ea"/>
              </a:rPr>
              <a:t>3. Customer Analysis </a:t>
            </a:r>
            <a:endParaRPr lang="en-US" altLang="en-US" sz="2400" b="1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60350" y="790575"/>
            <a:ext cx="11931650" cy="2843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/>
              <a:t>       Top 10 Customers by Spending: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top 10 customers have spent between </a:t>
            </a:r>
            <a:r>
              <a:rPr lang="en-US" altLang="en-US" b="1">
                <a:highlight>
                  <a:srgbClr val="FFFF00"/>
                </a:highlight>
              </a:rPr>
              <a:t>₹7,266 and ₹8,655</a:t>
            </a:r>
            <a:r>
              <a:rPr lang="en-US" altLang="en-US"/>
              <a:t>, with </a:t>
            </a:r>
            <a:r>
              <a:rPr lang="en-US" altLang="en-US" b="1">
                <a:highlight>
                  <a:srgbClr val="FFFF00"/>
                </a:highlight>
              </a:rPr>
              <a:t>cus_b5exs5bqgmju</a:t>
            </a:r>
            <a:r>
              <a:rPr lang="en-US" altLang="en-US"/>
              <a:t> being the highest spender at </a:t>
            </a:r>
            <a:r>
              <a:rPr lang="en-US" altLang="en-US" b="1">
                <a:highlight>
                  <a:srgbClr val="FFFF00"/>
                </a:highlight>
              </a:rPr>
              <a:t>₹8,655</a:t>
            </a:r>
            <a:r>
              <a:rPr lang="en-US" altLang="en-US"/>
              <a:t>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This indicates a small group of high-value customers contributing significantly to overall revenue.</a:t>
            </a:r>
            <a:endParaRPr lang="en-US" altLang="en-US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/>
              <a:t>Actionable Insights:</a:t>
            </a:r>
            <a:endParaRPr lang="en-US" altLang="en-US" b="1"/>
          </a:p>
          <a:p>
            <a:pPr marL="342900" indent="-342900">
              <a:buAutoNum type="arabicPeriod"/>
            </a:pPr>
            <a:r>
              <a:rPr lang="en-US" altLang="en-US"/>
              <a:t>Focus on loyalty programs and personalized offers for these top customers to retain them.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Analyze their purchasing patterns to cross-sell or upsell related products.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Use insights from top customer behavior to target similar customer segments.</a:t>
            </a:r>
            <a:endParaRPr lang="en-US" altLang="en-US"/>
          </a:p>
          <a:p>
            <a:pPr marL="342900" indent="-342900">
              <a:buAutoNum type="arabicPeriod"/>
            </a:pPr>
            <a:endParaRPr lang="en-US" altLang="en-US"/>
          </a:p>
        </p:txBody>
      </p:sp>
      <p:pic>
        <p:nvPicPr>
          <p:cNvPr id="4" name="Picture 3" descr="newplot (61)"/>
          <p:cNvPicPr>
            <a:picLocks noChangeAspect="1"/>
          </p:cNvPicPr>
          <p:nvPr/>
        </p:nvPicPr>
        <p:blipFill>
          <a:blip r:embed="rId1"/>
          <a:srcRect t="17933" b="6307"/>
          <a:stretch>
            <a:fillRect/>
          </a:stretch>
        </p:blipFill>
        <p:spPr>
          <a:xfrm>
            <a:off x="1027430" y="3571240"/>
            <a:ext cx="9348470" cy="3230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87960" y="290830"/>
            <a:ext cx="1173226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 Average Orders per Customer: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On average, each customer places about</a:t>
            </a:r>
            <a:r>
              <a:rPr lang="en-US" altLang="en-US" b="1">
                <a:highlight>
                  <a:srgbClr val="FFFF00"/>
                </a:highlight>
              </a:rPr>
              <a:t> 5 orders</a:t>
            </a:r>
            <a:r>
              <a:rPr lang="en-US" altLang="en-US"/>
              <a:t>, indicating moderate repeat purchase behavior across the customer base.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      Actionable Insights:</a:t>
            </a:r>
            <a:endParaRPr lang="en-US" altLang="en-US" b="1"/>
          </a:p>
          <a:p>
            <a:pPr marL="342900" indent="-342900">
              <a:buAutoNum type="arabicPeriod"/>
            </a:pPr>
            <a:r>
              <a:rPr lang="en-US" altLang="en-US"/>
              <a:t>Encourage customers to increase purchase frequency through loyalty programs, subscription options, or targeted promotions.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Segment customers based on purchase frequency to create personalized campaigns.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Focus on converting one-time buyers into repeat buyers to boost overall revenue.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5" name="Picture 4" descr="newplot (6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70" y="3293110"/>
            <a:ext cx="10439400" cy="23812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34010" y="336550"/>
            <a:ext cx="1055751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 Number of Repeat Customers: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dataset shows </a:t>
            </a:r>
            <a:r>
              <a:rPr lang="en-US" altLang="en-US" b="1">
                <a:highlight>
                  <a:srgbClr val="FFFF00"/>
                </a:highlight>
              </a:rPr>
              <a:t>191,872</a:t>
            </a:r>
            <a:r>
              <a:rPr lang="en-US" altLang="en-US"/>
              <a:t> repeat customers, indicating that a large portion of customers return to make additional purchases.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This reflects strong customer retention and satisfaction, which is essential for sustainable e-commerce growth.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       Actionable Insights:</a:t>
            </a:r>
            <a:endParaRPr lang="en-US" altLang="en-US" b="1"/>
          </a:p>
          <a:p>
            <a:pPr marL="342900" indent="-342900">
              <a:buAutoNum type="arabicPeriod"/>
            </a:pPr>
            <a:r>
              <a:rPr lang="en-US" altLang="en-US"/>
              <a:t>Maintain customer satisfaction through quality service, fast delivery, and reliable products.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Implement loyalty programs, reward points, or exclusive discounts to further strengthen repeat purchasing behavior.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Analyze repeat customer purchase patterns to identify high-demand products and personalized marketing opportunities.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5" name="Picture 4" descr="newplot (6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3980815"/>
            <a:ext cx="10439400" cy="23812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88925" y="111760"/>
            <a:ext cx="1114044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Customer Distribution by State: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Customer data shows that the highest number of customers come from </a:t>
            </a:r>
            <a:r>
              <a:rPr lang="en-US" altLang="en-US" b="1">
                <a:highlight>
                  <a:srgbClr val="FFFF00"/>
                </a:highlight>
              </a:rPr>
              <a:t>TS (33,707)</a:t>
            </a:r>
            <a:r>
              <a:rPr lang="en-US" altLang="en-US"/>
              <a:t>, followed closely by </a:t>
            </a:r>
            <a:r>
              <a:rPr lang="en-US" altLang="en-US" b="1">
                <a:highlight>
                  <a:srgbClr val="FFFF00"/>
                </a:highlight>
              </a:rPr>
              <a:t>WB (33,468)</a:t>
            </a:r>
            <a:r>
              <a:rPr lang="en-US" altLang="en-US"/>
              <a:t> and </a:t>
            </a:r>
            <a:r>
              <a:rPr lang="en-US" altLang="en-US" b="1">
                <a:highlight>
                  <a:srgbClr val="FFFF00"/>
                </a:highlight>
              </a:rPr>
              <a:t>MH (33,301)</a:t>
            </a:r>
            <a:r>
              <a:rPr lang="en-US" altLang="en-US"/>
              <a:t>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Other major contributing states include </a:t>
            </a:r>
            <a:r>
              <a:rPr lang="en-US" altLang="en-US" b="1">
                <a:highlight>
                  <a:srgbClr val="FFFF00"/>
                </a:highlight>
              </a:rPr>
              <a:t>DL (33,298)</a:t>
            </a:r>
            <a:r>
              <a:rPr lang="en-US" altLang="en-US"/>
              <a:t>, </a:t>
            </a:r>
            <a:r>
              <a:rPr lang="en-US" altLang="en-US" b="1">
                <a:highlight>
                  <a:srgbClr val="FFFF00"/>
                </a:highlight>
              </a:rPr>
              <a:t>KA (33,194)</a:t>
            </a:r>
            <a:r>
              <a:rPr lang="en-US" altLang="en-US"/>
              <a:t>, and </a:t>
            </a:r>
            <a:r>
              <a:rPr lang="en-US" altLang="en-US" b="1">
                <a:highlight>
                  <a:srgbClr val="FFFF00"/>
                </a:highlight>
              </a:rPr>
              <a:t>TN (33,032)</a:t>
            </a:r>
            <a:r>
              <a:rPr lang="en-US" altLang="en-US"/>
              <a:t>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relatively similar customer counts across these states indicate a well-distributed customer base across multiple regions rather than dependence on a single state.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      Actionable Insights:</a:t>
            </a:r>
            <a:endParaRPr lang="en-US" altLang="en-US" b="1"/>
          </a:p>
          <a:p>
            <a:pPr marL="342900" indent="-342900">
              <a:buAutoNum type="arabicPeriod"/>
            </a:pPr>
            <a:r>
              <a:rPr lang="en-US" altLang="en-US"/>
              <a:t>Focus regional marketing campaigns in these high-customer states to further increase sales.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Strengthen logistics and delivery infrastructure in these regions to improve customer experience.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Use targeted promotions or localized advertising to increase engagement in these key markets.</a:t>
            </a:r>
            <a:endParaRPr lang="en-US" altLang="en-US"/>
          </a:p>
        </p:txBody>
      </p:sp>
      <p:pic>
        <p:nvPicPr>
          <p:cNvPr id="3" name="Picture 2" descr="newplot (64)"/>
          <p:cNvPicPr>
            <a:picLocks noChangeAspect="1"/>
          </p:cNvPicPr>
          <p:nvPr/>
        </p:nvPicPr>
        <p:blipFill>
          <a:blip r:embed="rId1"/>
          <a:srcRect t="3707" r="1332" b="4910"/>
          <a:stretch>
            <a:fillRect/>
          </a:stretch>
        </p:blipFill>
        <p:spPr>
          <a:xfrm>
            <a:off x="1985645" y="3529965"/>
            <a:ext cx="7854950" cy="33191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87655" y="165100"/>
            <a:ext cx="1090295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Customer Distribution by City 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highest number of customers come from </a:t>
            </a:r>
            <a:r>
              <a:rPr lang="en-US" altLang="en-US" b="1">
                <a:highlight>
                  <a:srgbClr val="FFFF00"/>
                </a:highlight>
              </a:rPr>
              <a:t>Mumbai (28,773)</a:t>
            </a:r>
            <a:r>
              <a:rPr lang="en-US" altLang="en-US"/>
              <a:t>, followed closely by </a:t>
            </a:r>
            <a:r>
              <a:rPr lang="en-US" altLang="en-US" b="1">
                <a:highlight>
                  <a:srgbClr val="FFFF00"/>
                </a:highlight>
              </a:rPr>
              <a:t>Delhi (28,632)</a:t>
            </a:r>
            <a:r>
              <a:rPr lang="en-US" altLang="en-US"/>
              <a:t> and </a:t>
            </a:r>
            <a:r>
              <a:rPr lang="en-US" altLang="en-US" b="1">
                <a:highlight>
                  <a:srgbClr val="FFFF00"/>
                </a:highlight>
              </a:rPr>
              <a:t>Hyderabad (28,625)</a:t>
            </a:r>
            <a:r>
              <a:rPr lang="en-US" altLang="en-US"/>
              <a:t>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Other major customer cities include </a:t>
            </a:r>
            <a:r>
              <a:rPr lang="en-US" altLang="en-US" b="1">
                <a:highlight>
                  <a:srgbClr val="FFFF00"/>
                </a:highlight>
              </a:rPr>
              <a:t>Pune (28,581)</a:t>
            </a:r>
            <a:r>
              <a:rPr lang="en-US" altLang="en-US"/>
              <a:t>, </a:t>
            </a:r>
            <a:r>
              <a:rPr lang="en-US" altLang="en-US" b="1">
                <a:highlight>
                  <a:srgbClr val="FFFF00"/>
                </a:highlight>
              </a:rPr>
              <a:t>Chennai (28,567)</a:t>
            </a:r>
            <a:r>
              <a:rPr lang="en-US" altLang="en-US"/>
              <a:t>, </a:t>
            </a:r>
            <a:r>
              <a:rPr lang="en-US" altLang="en-US" b="1">
                <a:highlight>
                  <a:srgbClr val="FFFF00"/>
                </a:highlight>
              </a:rPr>
              <a:t>Kolkata (28,441)</a:t>
            </a:r>
            <a:r>
              <a:rPr lang="en-US" altLang="en-US"/>
              <a:t>, and </a:t>
            </a:r>
            <a:r>
              <a:rPr lang="en-US" altLang="en-US" b="1">
                <a:highlight>
                  <a:srgbClr val="FFFF00"/>
                </a:highlight>
              </a:rPr>
              <a:t>Bangalore (28,381)</a:t>
            </a:r>
            <a:r>
              <a:rPr lang="en-US" altLang="en-US"/>
              <a:t>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customer base is spread across multiple major metropolitan cities, indicating that urban markets play a significant role in driving e-commerce demand.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      Actionable Insights:</a:t>
            </a:r>
            <a:endParaRPr lang="en-US" altLang="en-US" b="1"/>
          </a:p>
          <a:p>
            <a:pPr marL="342900" indent="-342900">
              <a:buAutoNum type="arabicPeriod"/>
            </a:pPr>
            <a:r>
              <a:rPr lang="en-US" altLang="en-US"/>
              <a:t>Focus targeted marketing campaigns in these high-customer metropolitan cities to increase conversions.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Strengthen last-mile delivery and logistics in these urban areas to maintain customer satisfaction.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Introduce city-specific promotions or fast delivery options to attract more customers in these key markets.</a:t>
            </a:r>
            <a:endParaRPr lang="en-US" altLang="en-US"/>
          </a:p>
        </p:txBody>
      </p:sp>
      <p:pic>
        <p:nvPicPr>
          <p:cNvPr id="5" name="Picture 4" descr="newplot (68)"/>
          <p:cNvPicPr>
            <a:picLocks noChangeAspect="1"/>
          </p:cNvPicPr>
          <p:nvPr/>
        </p:nvPicPr>
        <p:blipFill>
          <a:blip r:embed="rId1"/>
          <a:srcRect l="3163" t="6253" r="1198" b="5707"/>
          <a:stretch>
            <a:fillRect/>
          </a:stretch>
        </p:blipFill>
        <p:spPr>
          <a:xfrm>
            <a:off x="2165985" y="3622675"/>
            <a:ext cx="7746365" cy="32531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703445" y="301625"/>
            <a:ext cx="27857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ym typeface="+mn-ea"/>
              </a:rPr>
              <a:t>4.Payment Analysis</a:t>
            </a:r>
            <a:endParaRPr lang="en-US" altLang="en-US" sz="2400" b="1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5410" y="1188720"/>
            <a:ext cx="1169416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Most Used Payment Method 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most frequently used payment method is </a:t>
            </a:r>
            <a:r>
              <a:rPr lang="en-US" altLang="en-US" b="1">
                <a:highlight>
                  <a:srgbClr val="FFFF00"/>
                </a:highlight>
              </a:rPr>
              <a:t>Credit Card</a:t>
            </a:r>
            <a:r>
              <a:rPr lang="en-US" altLang="en-US"/>
              <a:t>, with </a:t>
            </a:r>
            <a:r>
              <a:rPr lang="en-US" altLang="en-US" b="1">
                <a:highlight>
                  <a:srgbClr val="FFFF00"/>
                </a:highlight>
              </a:rPr>
              <a:t>250,426 transactions</a:t>
            </a:r>
            <a:r>
              <a:rPr lang="en-US" altLang="en-US"/>
              <a:t>, making it the most preferred payment option among customers.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Other payment methods such as </a:t>
            </a:r>
            <a:r>
              <a:rPr lang="en-US" altLang="en-US" b="1">
                <a:highlight>
                  <a:srgbClr val="FFFF00"/>
                </a:highlight>
              </a:rPr>
              <a:t>Debit Card (250,167)</a:t>
            </a:r>
            <a:r>
              <a:rPr lang="en-US" altLang="en-US"/>
              <a:t>, </a:t>
            </a:r>
            <a:r>
              <a:rPr lang="en-US" altLang="en-US" b="1">
                <a:highlight>
                  <a:srgbClr val="FFFF00"/>
                </a:highlight>
              </a:rPr>
              <a:t>Net Banking (249,749)</a:t>
            </a:r>
            <a:r>
              <a:rPr lang="en-US" altLang="en-US"/>
              <a:t>, and </a:t>
            </a:r>
            <a:r>
              <a:rPr lang="en-US" altLang="en-US" b="1">
                <a:highlight>
                  <a:srgbClr val="FFFF00"/>
                </a:highlight>
              </a:rPr>
              <a:t>UPI (249,658)</a:t>
            </a:r>
            <a:r>
              <a:rPr lang="en-US" altLang="en-US"/>
              <a:t> also show very similar usage levels.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relatively close transaction counts across all payment methods indicate that customers are comfortable using multiple digital payment options, resulting in a balanced payment distribution.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       Actionable Insights:</a:t>
            </a:r>
            <a:endParaRPr lang="en-US" altLang="en-US" b="1"/>
          </a:p>
          <a:p>
            <a:pPr marL="342900" indent="-342900">
              <a:buAutoNum type="arabicPeriod"/>
            </a:pPr>
            <a:r>
              <a:rPr lang="en-US" altLang="en-US"/>
              <a:t>Businesses should ensure secure and seamless payment processing across all major payment methods.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Offering cashback, EMI options, or discounts on credit/debit card payments may help increase order value.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Maintaining support for multiple payment options ensures greater flexibility and improved checkout experience for customers.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newplot (69)"/>
          <p:cNvPicPr>
            <a:picLocks noChangeAspect="1"/>
          </p:cNvPicPr>
          <p:nvPr/>
        </p:nvPicPr>
        <p:blipFill>
          <a:blip r:embed="rId1"/>
          <a:srcRect t="4578" b="7570"/>
          <a:stretch>
            <a:fillRect/>
          </a:stretch>
        </p:blipFill>
        <p:spPr>
          <a:xfrm>
            <a:off x="873125" y="135890"/>
            <a:ext cx="10534650" cy="376555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79095" y="4392930"/>
            <a:ext cx="1062164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 Revenue by Payment Type 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Revenue generated through different payment methods is almost evenly distributed.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>
                <a:highlight>
                  <a:srgbClr val="FFFF00"/>
                </a:highlight>
              </a:rPr>
              <a:t>Debit Card </a:t>
            </a:r>
            <a:r>
              <a:rPr lang="en-US" altLang="en-US"/>
              <a:t>contributes the highest revenue with </a:t>
            </a:r>
            <a:r>
              <a:rPr lang="en-US" altLang="en-US" b="1">
                <a:highlight>
                  <a:srgbClr val="FFFF00"/>
                </a:highlight>
              </a:rPr>
              <a:t>₹101,447,226</a:t>
            </a:r>
            <a:r>
              <a:rPr lang="en-US" altLang="en-US"/>
              <a:t>, followed closely by</a:t>
            </a:r>
            <a:r>
              <a:rPr lang="en-US" altLang="en-US" b="1">
                <a:highlight>
                  <a:srgbClr val="FFFF00"/>
                </a:highlight>
              </a:rPr>
              <a:t> Credit Card (₹101,399,822)</a:t>
            </a:r>
            <a:r>
              <a:rPr lang="en-US" altLang="en-US"/>
              <a:t>, </a:t>
            </a:r>
            <a:r>
              <a:rPr lang="en-US" altLang="en-US" b="1">
                <a:highlight>
                  <a:srgbClr val="FFFF00"/>
                </a:highlight>
              </a:rPr>
              <a:t>UPI (₹101,267,718)</a:t>
            </a:r>
            <a:r>
              <a:rPr lang="en-US" altLang="en-US"/>
              <a:t>, and</a:t>
            </a:r>
            <a:r>
              <a:rPr lang="en-US" altLang="en-US" b="1">
                <a:highlight>
                  <a:srgbClr val="FFFF00"/>
                </a:highlight>
              </a:rPr>
              <a:t> Net Banking (₹101,229,285).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minimal difference in revenue contribution across payment methods indicates that customers use multiple digital payment options without strong dependence on a single method.</a:t>
            </a:r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60680" y="354330"/>
            <a:ext cx="107664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sym typeface="+mn-ea"/>
              </a:rPr>
              <a:t>       Actionable Insights:</a:t>
            </a:r>
            <a:endParaRPr lang="en-US" altLang="en-US" b="1"/>
          </a:p>
          <a:p>
            <a:pPr marL="342900" indent="-342900">
              <a:buAutoNum type="arabicPeriod"/>
            </a:pPr>
            <a:r>
              <a:rPr lang="en-US" altLang="en-US">
                <a:sym typeface="+mn-ea"/>
              </a:rPr>
              <a:t>Businesses should continue supporting multiple digital payment methods to ensure a flexible checkout experience.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>
                <a:sym typeface="+mn-ea"/>
              </a:rPr>
              <a:t>Partnerships with payment providers for cashback, discounts, or promotional offers can help boost sales.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>
                <a:sym typeface="+mn-ea"/>
              </a:rPr>
              <a:t>Monitoring payment trends can help identify emerging payment preferences and optimize payment strategy.</a:t>
            </a:r>
            <a:endParaRPr lang="en-US" altLang="en-US"/>
          </a:p>
          <a:p>
            <a:endParaRPr lang="en-US"/>
          </a:p>
        </p:txBody>
      </p:sp>
      <p:pic>
        <p:nvPicPr>
          <p:cNvPr id="3" name="Picture 2" descr="newplot (7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935" y="2091055"/>
            <a:ext cx="104394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26060" y="201295"/>
            <a:ext cx="1114933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 Average Payment Value 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average payment value across all transactions is</a:t>
            </a:r>
            <a:r>
              <a:rPr lang="en-US" altLang="en-US" b="1">
                <a:highlight>
                  <a:srgbClr val="FFFF00"/>
                </a:highlight>
              </a:rPr>
              <a:t> ₹405.34</a:t>
            </a:r>
            <a:r>
              <a:rPr lang="en-US" altLang="en-US"/>
              <a:t>, indicating the typical amount customers spend per payment.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This suggests that the platform experiences moderate transaction values, reflecting consistent purchasing behavior across customers.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A stable average payment value indicates a balanced mix of low-cost and mid-range product purchases on the platform.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    </a:t>
            </a:r>
            <a:r>
              <a:rPr lang="en-US" altLang="en-US" b="1"/>
              <a:t>Actionable Insights:</a:t>
            </a:r>
            <a:endParaRPr lang="en-US" altLang="en-US" b="1"/>
          </a:p>
          <a:p>
            <a:pPr marL="342900" indent="-342900">
              <a:buAutoNum type="arabicPeriod"/>
            </a:pPr>
            <a:r>
              <a:rPr lang="en-US" altLang="en-US"/>
              <a:t>Businesses can increase the average payment value by introducing product bundles, combo offers, or bulk purchase discounts.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Implementing free shipping thresholds above a certain order value may encourage customers to add more items to their cart.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Targeted promotions for higher-value products could help boost overall transaction value.</a:t>
            </a:r>
            <a:endParaRPr lang="en-US" altLang="en-US"/>
          </a:p>
          <a:p>
            <a:pPr marL="342900" indent="-342900">
              <a:buAutoNum type="arabicPeriod"/>
            </a:pPr>
            <a:endParaRPr lang="en-US" altLang="en-US"/>
          </a:p>
        </p:txBody>
      </p:sp>
      <p:pic>
        <p:nvPicPr>
          <p:cNvPr id="3" name="Picture 2" descr="newplot (7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4476750"/>
            <a:ext cx="10439400" cy="23812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700270" y="294005"/>
            <a:ext cx="27908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ym typeface="+mn-ea"/>
              </a:rPr>
              <a:t>5. Product Analysis</a:t>
            </a:r>
            <a:endParaRPr lang="en-US" altLang="en-US" sz="2400" b="1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3980" y="1156335"/>
            <a:ext cx="1153096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 Top 10 product categories with the highest quantity sold: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</a:t>
            </a:r>
            <a:r>
              <a:rPr lang="en-US" altLang="en-US" b="1">
                <a:highlight>
                  <a:srgbClr val="FFFF00"/>
                </a:highlight>
              </a:rPr>
              <a:t>Home category </a:t>
            </a:r>
            <a:r>
              <a:rPr lang="en-US" altLang="en-US"/>
              <a:t>recorded the highest number of products sold with </a:t>
            </a:r>
            <a:r>
              <a:rPr lang="en-US" altLang="en-US" b="1">
                <a:highlight>
                  <a:srgbClr val="FFFF00"/>
                </a:highlight>
              </a:rPr>
              <a:t>153,691 units</a:t>
            </a:r>
            <a:r>
              <a:rPr lang="en-US" altLang="en-US"/>
              <a:t>, making it the most popular product category among customers.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Other high-performing categories include </a:t>
            </a:r>
            <a:r>
              <a:rPr lang="en-US" altLang="en-US" b="1">
                <a:highlight>
                  <a:srgbClr val="FFFF00"/>
                </a:highlight>
              </a:rPr>
              <a:t>Books (153,012), Garden (152,372), Music (152,224), and Health (152,061)</a:t>
            </a:r>
            <a:r>
              <a:rPr lang="en-US" altLang="en-US"/>
              <a:t>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Categories such as Grocery, Fashion, Tools, Movies, and Baby also show strong sales volume, indicating diverse customer demand across multiple product segments.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relatively small difference in quantity sold across the top categories suggests that customer purchases are well distributed across various product categories rather than being dominated by a single category.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       Actionable Insights:</a:t>
            </a:r>
            <a:endParaRPr lang="en-US" altLang="en-US" b="1"/>
          </a:p>
          <a:p>
            <a:pPr marL="342900" indent="-342900">
              <a:buAutoNum type="arabicPeriod"/>
            </a:pPr>
            <a:r>
              <a:rPr lang="en-US" altLang="en-US"/>
              <a:t>Businesses should ensure consistent inventory availability for these high-demand categories to avoid stock shortages.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Marketing campaigns and product promotions can focus on these popular categories to maximize sales opportunities.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Cross-selling related products within these categories can help increase average order value.</a:t>
            </a:r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newplot (7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215265"/>
            <a:ext cx="10439400" cy="34290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67030" y="3644265"/>
            <a:ext cx="1124013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Top 10 Most Expensive Product Categories 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</a:t>
            </a:r>
            <a:r>
              <a:rPr lang="en-US" altLang="en-US" b="1">
                <a:highlight>
                  <a:srgbClr val="FFFF00"/>
                </a:highlight>
              </a:rPr>
              <a:t>Fashion category</a:t>
            </a:r>
            <a:r>
              <a:rPr lang="en-US" altLang="en-US"/>
              <a:t> records the</a:t>
            </a:r>
            <a:r>
              <a:rPr lang="en-US" altLang="en-US" b="1">
                <a:highlight>
                  <a:srgbClr val="FFFF00"/>
                </a:highlight>
              </a:rPr>
              <a:t> highest product value with ₹645,849.97</a:t>
            </a:r>
            <a:r>
              <a:rPr lang="en-US" altLang="en-US"/>
              <a:t>, making it the most expensive product category on the platform.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Other premium categories include </a:t>
            </a:r>
            <a:r>
              <a:rPr lang="en-US" altLang="en-US" b="1">
                <a:highlight>
                  <a:srgbClr val="FFFF00"/>
                </a:highlight>
              </a:rPr>
              <a:t>Health (₹643,329.55), Tools (₹642,073.51), Garden (₹641,744.85), and Books (₹640,875.54)</a:t>
            </a:r>
            <a:r>
              <a:rPr lang="en-US" altLang="en-US"/>
              <a:t>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Categories such as Home, Baby, Movies, Jewelry, and Shoes also appear among the top high-value categories, indicating that multiple segments offer premium-priced products.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close price range across these categories suggests that high-value products are distributed across several categories rather than concentrated in a single category.</a:t>
            </a:r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newplot (7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" y="1991995"/>
            <a:ext cx="10439400" cy="47625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02895" y="327025"/>
            <a:ext cx="110128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sym typeface="+mn-ea"/>
              </a:rPr>
              <a:t>       Actionable Insights:</a:t>
            </a:r>
            <a:endParaRPr lang="en-US" altLang="en-US" b="1"/>
          </a:p>
          <a:p>
            <a:pPr marL="342900" indent="-342900">
              <a:buAutoNum type="arabicPeriod"/>
            </a:pPr>
            <a:r>
              <a:rPr lang="en-US" altLang="en-US">
                <a:sym typeface="+mn-ea"/>
              </a:rPr>
              <a:t>Businesses can promote these categories as premium or high-value segments to increase revenue.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>
                <a:sym typeface="+mn-ea"/>
              </a:rPr>
              <a:t>Offering EMI options, discounts, or bundled deals can encourage customers to purchase high-priced products.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>
                <a:sym typeface="+mn-ea"/>
              </a:rPr>
              <a:t>Highlighting premium products in featured sections or recommendation systems may further boost sales.</a:t>
            </a:r>
            <a:endParaRPr lang="en-US" altLang="en-US"/>
          </a:p>
          <a:p>
            <a:pPr marL="342900" indent="-342900">
              <a:buAutoNum type="arabicPeriod"/>
            </a:pP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06070" y="317500"/>
            <a:ext cx="1144968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Top 10 Product Categories Contributing the Highest Percentage of Revenue: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</a:t>
            </a:r>
            <a:r>
              <a:rPr lang="en-US" altLang="en-US" b="1">
                <a:highlight>
                  <a:srgbClr val="FFFF00"/>
                </a:highlight>
              </a:rPr>
              <a:t>Home category</a:t>
            </a:r>
            <a:r>
              <a:rPr lang="en-US" altLang="en-US"/>
              <a:t> contributes the highest share of total revenue at approximately </a:t>
            </a:r>
            <a:r>
              <a:rPr lang="en-US" altLang="en-US" b="1">
                <a:highlight>
                  <a:srgbClr val="FFFF00"/>
                </a:highlight>
              </a:rPr>
              <a:t>5.12%</a:t>
            </a:r>
            <a:r>
              <a:rPr lang="en-US" altLang="en-US"/>
              <a:t>, making it one of the key revenue drivers for the platform.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Other major contributing categories include </a:t>
            </a:r>
            <a:r>
              <a:rPr lang="en-US" altLang="en-US" b="1">
                <a:highlight>
                  <a:srgbClr val="FFFF00"/>
                </a:highlight>
              </a:rPr>
              <a:t>Books (5.11%)</a:t>
            </a:r>
            <a:r>
              <a:rPr lang="en-US" altLang="en-US" b="1">
                <a:highlight>
                  <a:srgbClr val="FFFF00"/>
                </a:highlight>
              </a:rPr>
              <a:t>, Health (5.09%), Garden (5.08%), and Music (5.07%)</a:t>
            </a:r>
            <a:r>
              <a:rPr lang="en-US" altLang="en-US"/>
              <a:t>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Additional categories such as Grocery (5.06%), Tools (5.04%), Movies (5.04%), Fashion (5.03%), and Jewelry (5.02%) also contribute a similar share of revenue.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small difference in revenue percentages across these categories indicates that revenue generation is well distributed across multiple product segments rather than being dominated by a single category.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r>
              <a:rPr lang="en-US" altLang="en-US" b="1"/>
              <a:t>      Actionable Insights:</a:t>
            </a:r>
            <a:endParaRPr lang="en-US" altLang="en-US" b="1"/>
          </a:p>
          <a:p>
            <a:pPr marL="342900" indent="-342900">
              <a:buAutoNum type="arabicPeriod"/>
            </a:pPr>
            <a:r>
              <a:rPr lang="en-US" altLang="en-US"/>
              <a:t>Businesses should continue promoting these top-performing categories to maintain strong revenue generation.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Cross-selling and recommendation strategies within these categories can help increase overall order value.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Maintaining inventory and competitive pricing in these categories will help sustain consistent revenue growth.</a:t>
            </a:r>
            <a:endParaRPr lang="en-US" altLang="en-US"/>
          </a:p>
          <a:p>
            <a:pPr marL="342900" indent="-342900">
              <a:buAutoNum type="arabicPeriod"/>
            </a:pPr>
            <a:endParaRPr lang="en-US" altLang="en-US"/>
          </a:p>
        </p:txBody>
      </p:sp>
      <p:pic>
        <p:nvPicPr>
          <p:cNvPr id="3" name="Picture 2" descr="newplot (74)"/>
          <p:cNvPicPr>
            <a:picLocks noChangeAspect="1"/>
          </p:cNvPicPr>
          <p:nvPr/>
        </p:nvPicPr>
        <p:blipFill>
          <a:blip r:embed="rId1"/>
          <a:srcRect l="2816" t="25833" r="1691" b="15537"/>
          <a:stretch>
            <a:fillRect/>
          </a:stretch>
        </p:blipFill>
        <p:spPr>
          <a:xfrm>
            <a:off x="1046480" y="4483100"/>
            <a:ext cx="9968865" cy="201041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51155" y="436245"/>
            <a:ext cx="1077722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 Products Never Ordered 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analysis shows that there are no products in the catalog that were never ordered, meaning every listed product has been purchased at least once.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This indicates good product visibility and balanced customer demand across the product catalog.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absence of unsold products suggests that the platform maintains an efficient product selection strategy, where most items attract some level of customer interest.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r>
              <a:rPr lang="en-US" altLang="en-US" b="1"/>
              <a:t>      Actionable Insights:</a:t>
            </a:r>
            <a:endParaRPr lang="en-US" altLang="en-US" b="1"/>
          </a:p>
          <a:p>
            <a:pPr marL="342900" indent="-342900">
              <a:buAutoNum type="arabicPeriod"/>
            </a:pPr>
            <a:r>
              <a:rPr lang="en-US" altLang="en-US"/>
              <a:t>Continue maintaining a diverse product catalog that appeals to different customer segments.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Analyze low-selling products (if any) to identify opportunities for pricing adjustments or promotional campaigns.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Maintain effective product recommendations and search visibility to ensure all products remain discoverable.</a:t>
            </a:r>
            <a:endParaRPr lang="en-US" altLang="en-US"/>
          </a:p>
          <a:p>
            <a:pPr marL="342900" indent="-342900">
              <a:buAutoNum type="arabicPeriod"/>
            </a:pPr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4926330" y="317500"/>
            <a:ext cx="23399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ym typeface="+mn-ea"/>
              </a:rPr>
              <a:t>6.Seller Analysis</a:t>
            </a:r>
            <a:endParaRPr lang="en-US" altLang="en-US" sz="2400" b="1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24155" y="1239520"/>
            <a:ext cx="1130363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Top 10 Seller with Highest Revenue 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seller </a:t>
            </a:r>
            <a:r>
              <a:rPr lang="en-US" altLang="en-US" b="1">
                <a:highlight>
                  <a:srgbClr val="FFFF00"/>
                </a:highlight>
              </a:rPr>
              <a:t>sel_edc0u69wt77f</a:t>
            </a:r>
            <a:r>
              <a:rPr lang="en-US" altLang="en-US"/>
              <a:t> generated the highest revenue of approximately </a:t>
            </a:r>
            <a:r>
              <a:rPr lang="en-US" altLang="en-US" b="1">
                <a:highlight>
                  <a:srgbClr val="FFFF00"/>
                </a:highlight>
              </a:rPr>
              <a:t>₹109,379</a:t>
            </a:r>
            <a:r>
              <a:rPr lang="en-US" altLang="en-US"/>
              <a:t>, making them the top-performing seller on the platform.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Other high-performing sellers include </a:t>
            </a:r>
            <a:r>
              <a:rPr lang="en-US" altLang="en-US" b="1">
                <a:highlight>
                  <a:srgbClr val="FFFF00"/>
                </a:highlight>
              </a:rPr>
              <a:t>sel_bjddfg4wbwep (₹103,551)</a:t>
            </a:r>
            <a:r>
              <a:rPr lang="en-US" altLang="en-US"/>
              <a:t>, </a:t>
            </a:r>
            <a:r>
              <a:rPr lang="en-US" altLang="en-US" b="1">
                <a:highlight>
                  <a:srgbClr val="FFFF00"/>
                </a:highlight>
              </a:rPr>
              <a:t>sel_zend4v1r77w4 (₹103,288)</a:t>
            </a:r>
            <a:r>
              <a:rPr lang="en-US" altLang="en-US"/>
              <a:t>, and </a:t>
            </a:r>
            <a:r>
              <a:rPr lang="en-US" altLang="en-US" b="1">
                <a:highlight>
                  <a:srgbClr val="FFFF00"/>
                </a:highlight>
              </a:rPr>
              <a:t>sel_womnv2nuov3o (₹102,913).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revenue difference among the top 10 sellers is relatively small, indicating that multiple sellers contribute significantly to overall marketplace revenue rather than a single seller dominating the platform.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r>
              <a:rPr lang="en-US" altLang="en-US"/>
              <a:t>      </a:t>
            </a:r>
            <a:r>
              <a:rPr lang="en-US" altLang="en-US" b="1"/>
              <a:t>Actionable Insights:</a:t>
            </a:r>
            <a:endParaRPr lang="en-US" altLang="en-US" b="1"/>
          </a:p>
          <a:p>
            <a:pPr marL="342900" indent="-342900">
              <a:buAutoNum type="arabicPeriod"/>
            </a:pPr>
            <a:r>
              <a:rPr lang="en-US" altLang="en-US"/>
              <a:t>Strengthen partnerships with these top-performing sellers to maintain high sales performance.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Provide incentives such as featured listings or promotional opportunities for high-revenue sellers.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Analyze the strategies used by top sellers to help other sellers improve their performance.</a:t>
            </a:r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newplot (75)"/>
          <p:cNvPicPr>
            <a:picLocks noChangeAspect="1"/>
          </p:cNvPicPr>
          <p:nvPr/>
        </p:nvPicPr>
        <p:blipFill>
          <a:blip r:embed="rId1"/>
          <a:srcRect t="5333" b="4333"/>
          <a:stretch>
            <a:fillRect/>
          </a:stretch>
        </p:blipFill>
        <p:spPr>
          <a:xfrm>
            <a:off x="876300" y="1073785"/>
            <a:ext cx="10439400" cy="430212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251460" y="172720"/>
            <a:ext cx="1135824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Top 10 Seller with Most Orders 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sellers </a:t>
            </a:r>
            <a:r>
              <a:rPr lang="en-US" altLang="en-US" b="1">
                <a:highlight>
                  <a:srgbClr val="FFFF00"/>
                </a:highlight>
              </a:rPr>
              <a:t>sel_edc0u69wt77f and sel_y0vbie8lr69h</a:t>
            </a:r>
            <a:r>
              <a:rPr lang="en-US" altLang="en-US"/>
              <a:t> recorded the highest number of orders, with </a:t>
            </a:r>
            <a:r>
              <a:rPr lang="en-US" altLang="en-US" b="1">
                <a:highlight>
                  <a:srgbClr val="FFFF00"/>
                </a:highlight>
              </a:rPr>
              <a:t>196 orders</a:t>
            </a:r>
            <a:r>
              <a:rPr lang="en-US" altLang="en-US"/>
              <a:t> each, making them the most active sellers on the platform.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Other high-volume sellers include </a:t>
            </a:r>
            <a:r>
              <a:rPr lang="en-US" altLang="en-US" b="1">
                <a:highlight>
                  <a:srgbClr val="FFFF00"/>
                </a:highlight>
              </a:rPr>
              <a:t>sel_1omd9b9csdr4 (194 orders), sel_4zmi5jbka06p (192 orders)</a:t>
            </a:r>
            <a:r>
              <a:rPr lang="en-US" altLang="en-US"/>
              <a:t>, and </a:t>
            </a:r>
            <a:r>
              <a:rPr lang="en-US" altLang="en-US" b="1">
                <a:highlight>
                  <a:srgbClr val="FFFF00"/>
                </a:highlight>
              </a:rPr>
              <a:t>sel_pknu25jqzh0u (191 orders)</a:t>
            </a:r>
            <a:r>
              <a:rPr lang="en-US" altLang="en-US"/>
              <a:t>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Sellers such as sel_0r95i7rjk2nx, sel_cdyq8f7d08fr, sel_rl283psq2tqo, sel_8mzyr2e5ob91, and sel_bjddfg4wbwep also contribute significantly to the total order volume.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small difference in order counts among the top sellers indicates that sales activity is relatively balanced across multiple sellers rather than dominated by a single seller.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    </a:t>
            </a:r>
            <a:r>
              <a:rPr lang="en-US" altLang="en-US" b="1"/>
              <a:t>Actionable Insights:</a:t>
            </a:r>
            <a:endParaRPr lang="en-US" altLang="en-US" b="1"/>
          </a:p>
          <a:p>
            <a:pPr marL="342900" indent="-342900">
              <a:buAutoNum type="arabicPeriod"/>
            </a:pPr>
            <a:r>
              <a:rPr lang="en-US" altLang="en-US"/>
              <a:t>Provide incentives or recognition programs for high-volume sellers to maintain their performance.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Analyze the strategies used by these sellers to identify best practices that can be shared with other sellers.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Ensuring efficient inventory and order fulfillment for these sellers will help maintain consistent customer satisfaction.</a:t>
            </a:r>
            <a:endParaRPr lang="en-US" altLang="en-US"/>
          </a:p>
        </p:txBody>
      </p:sp>
      <p:pic>
        <p:nvPicPr>
          <p:cNvPr id="4" name="Picture 3" descr="newplot (76)"/>
          <p:cNvPicPr>
            <a:picLocks noChangeAspect="1"/>
          </p:cNvPicPr>
          <p:nvPr/>
        </p:nvPicPr>
        <p:blipFill>
          <a:blip r:embed="rId1"/>
          <a:srcRect t="23741" b="6500"/>
          <a:stretch>
            <a:fillRect/>
          </a:stretch>
        </p:blipFill>
        <p:spPr>
          <a:xfrm>
            <a:off x="626110" y="4463415"/>
            <a:ext cx="10439400" cy="239204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89560" y="290830"/>
            <a:ext cx="1134872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Seller Distribution by State 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highest number of sellers are located in </a:t>
            </a:r>
            <a:r>
              <a:rPr lang="en-US" altLang="en-US" b="1">
                <a:highlight>
                  <a:srgbClr val="FFFF00"/>
                </a:highlight>
              </a:rPr>
              <a:t>TS (2,032 sellers)</a:t>
            </a:r>
            <a:r>
              <a:rPr lang="en-US" altLang="en-US"/>
              <a:t>, followed by </a:t>
            </a:r>
            <a:r>
              <a:rPr lang="en-US" altLang="en-US" b="1">
                <a:highlight>
                  <a:srgbClr val="FFFF00"/>
                </a:highlight>
              </a:rPr>
              <a:t>MH (2,008) and KA (1,994)</a:t>
            </a:r>
            <a:r>
              <a:rPr lang="en-US" altLang="en-US"/>
              <a:t>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Other major seller locations include </a:t>
            </a:r>
            <a:r>
              <a:rPr lang="en-US" altLang="en-US" b="1">
                <a:highlight>
                  <a:srgbClr val="FFFF00"/>
                </a:highlight>
              </a:rPr>
              <a:t>TN (1,985) and DL (1,981)</a:t>
            </a:r>
            <a:r>
              <a:rPr lang="en-US" altLang="en-US"/>
              <a:t>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seller base is spread across multiple major states, indicating a well-distributed marketplace supply network rather than dependence on a single region.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   </a:t>
            </a:r>
            <a:r>
              <a:rPr lang="en-US" altLang="en-US" b="1"/>
              <a:t>Actionable Insights: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Strengthening logistics and delivery infrastructure in these states can help improve order fulfillment efficiency.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Encouraging more sellers from other regions could help expand marketplace diversity and product availability.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Regional seller support programs and training can help improve seller performance and overall sales growth.</a:t>
            </a:r>
            <a:endParaRPr lang="en-US" altLang="en-US"/>
          </a:p>
        </p:txBody>
      </p:sp>
      <p:pic>
        <p:nvPicPr>
          <p:cNvPr id="3" name="Picture 2" descr="newplot (77)"/>
          <p:cNvPicPr>
            <a:picLocks noChangeAspect="1"/>
          </p:cNvPicPr>
          <p:nvPr/>
        </p:nvPicPr>
        <p:blipFill>
          <a:blip r:embed="rId1"/>
          <a:srcRect b="5722"/>
          <a:stretch>
            <a:fillRect/>
          </a:stretch>
        </p:blipFill>
        <p:spPr>
          <a:xfrm>
            <a:off x="556895" y="3429000"/>
            <a:ext cx="10420350" cy="323278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677410" y="314325"/>
            <a:ext cx="25527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ym typeface="+mn-ea"/>
              </a:rPr>
              <a:t>7.Review Analysis</a:t>
            </a:r>
            <a:endParaRPr lang="en-US" altLang="en-US" sz="2400" b="1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01650" y="1065530"/>
            <a:ext cx="1024699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Average Review Score 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overall average review score is </a:t>
            </a:r>
            <a:r>
              <a:rPr lang="en-US" altLang="en-US" b="1">
                <a:highlight>
                  <a:srgbClr val="FFFF00"/>
                </a:highlight>
              </a:rPr>
              <a:t>3.00</a:t>
            </a:r>
            <a:r>
              <a:rPr lang="en-US" altLang="en-US"/>
              <a:t>, indicating a moderate level of customer satisfaction across the platform.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A score around the midpoint suggests that while many customers are satisfied, there is still room for improvement in product quality, delivery experience, or customer service.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Maintaining or improving customer satisfaction is essential for long-term customer retention and positive brand reputation.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   </a:t>
            </a:r>
            <a:r>
              <a:rPr lang="en-US" altLang="en-US" b="1"/>
              <a:t> Actionable Insights:</a:t>
            </a:r>
            <a:endParaRPr lang="en-US" altLang="en-US" b="1"/>
          </a:p>
          <a:p>
            <a:pPr marL="342900" indent="-342900">
              <a:buAutoNum type="arabicPeriod"/>
            </a:pPr>
            <a:r>
              <a:rPr lang="en-US" altLang="en-US"/>
              <a:t>Analyze customer feedback to identify common issues affecting product ratings.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Improve product quality, delivery efficiency, and customer support to increase customer satisfaction.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Encourage satisfied customers to leave reviews, which can help improve the overall rating and credibility of the platform.</a:t>
            </a:r>
            <a:endParaRPr lang="en-US" altLang="en-US"/>
          </a:p>
        </p:txBody>
      </p:sp>
      <p:pic>
        <p:nvPicPr>
          <p:cNvPr id="4" name="Picture 3" descr="newplot (78)"/>
          <p:cNvPicPr>
            <a:picLocks noChangeAspect="1"/>
          </p:cNvPicPr>
          <p:nvPr/>
        </p:nvPicPr>
        <p:blipFill>
          <a:blip r:embed="rId1"/>
          <a:srcRect l="41341" t="23840" r="39226" b="23920"/>
          <a:stretch>
            <a:fillRect/>
          </a:stretch>
        </p:blipFill>
        <p:spPr>
          <a:xfrm>
            <a:off x="4881880" y="5196205"/>
            <a:ext cx="2025015" cy="124396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69570" y="948055"/>
            <a:ext cx="1101090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Cusotmer Review Score Distribution: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distribution of review scores is almost evenly spread across all rating levels from 1 to 5.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>
                <a:highlight>
                  <a:srgbClr val="FFFF00"/>
                </a:highlight>
              </a:rPr>
              <a:t>Ratings 2 (60,156) and 1 (60,066)</a:t>
            </a:r>
            <a:r>
              <a:rPr lang="en-US" altLang="en-US"/>
              <a:t> are slightly higher compared to other ratings, while </a:t>
            </a:r>
            <a:r>
              <a:rPr lang="en-US" altLang="en-US" b="1">
                <a:highlight>
                  <a:srgbClr val="FFFF00"/>
                </a:highlight>
              </a:rPr>
              <a:t>4 (59,808) and 5 (59,911) </a:t>
            </a:r>
            <a:r>
              <a:rPr lang="en-US" altLang="en-US"/>
              <a:t>are slightly lower.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relatively balanced distribution indicates that customer experiences vary significantly, with both positive and negative feedback present across the platform.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This pattern suggests that while some customers are satisfied, others may face issues related to product quality, delivery time, or service experience.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r>
              <a:rPr lang="en-US" altLang="en-US"/>
              <a:t>       </a:t>
            </a:r>
            <a:r>
              <a:rPr lang="en-US" altLang="en-US" b="1"/>
              <a:t>Actionable Insights:</a:t>
            </a:r>
            <a:endParaRPr lang="en-US" altLang="en-US" b="1"/>
          </a:p>
          <a:p>
            <a:pPr marL="342900" indent="-342900">
              <a:buAutoNum type="arabicPeriod"/>
            </a:pPr>
            <a:r>
              <a:rPr lang="en-US" altLang="en-US"/>
              <a:t>Analyze low-rated reviews (1–2 stars) to identify common customer complaints.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Improve product quality control and seller performance monitoring to reduce negative experiences.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Encourage satisfied customers to leave 4–5 star reviews to improve the overall rating distribution.</a:t>
            </a:r>
            <a:endParaRPr lang="en-US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newplot (79)"/>
          <p:cNvPicPr>
            <a:picLocks noChangeAspect="1"/>
          </p:cNvPicPr>
          <p:nvPr/>
        </p:nvPicPr>
        <p:blipFill>
          <a:blip r:embed="rId1"/>
          <a:srcRect b="7179"/>
          <a:stretch>
            <a:fillRect/>
          </a:stretch>
        </p:blipFill>
        <p:spPr>
          <a:xfrm>
            <a:off x="1417955" y="20320"/>
            <a:ext cx="9230995" cy="391604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27660" y="4156710"/>
            <a:ext cx="1131252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Top 10 Product Categories By Average Rating :</a:t>
            </a:r>
            <a:endParaRPr lang="en-US" altLang="en-US" b="1"/>
          </a:p>
          <a:p>
            <a:endParaRPr lang="en-US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</a:t>
            </a:r>
            <a:r>
              <a:rPr lang="en-US" altLang="en-US" b="1">
                <a:highlight>
                  <a:srgbClr val="FFFF00"/>
                </a:highlight>
              </a:rPr>
              <a:t>Grocery category </a:t>
            </a:r>
            <a:r>
              <a:rPr lang="en-US" altLang="en-US"/>
              <a:t>has the highest average </a:t>
            </a:r>
            <a:r>
              <a:rPr lang="en-US" altLang="en-US" b="1">
                <a:highlight>
                  <a:srgbClr val="FFFF00"/>
                </a:highlight>
              </a:rPr>
              <a:t>rating at 3.01</a:t>
            </a:r>
            <a:r>
              <a:rPr lang="en-US" altLang="en-US"/>
              <a:t>, making it the top-rated product category on the platform.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Other highly rated categories include </a:t>
            </a:r>
            <a:r>
              <a:rPr lang="en-US" altLang="en-US" b="1">
                <a:highlight>
                  <a:srgbClr val="FFFF00"/>
                </a:highlight>
              </a:rPr>
              <a:t>Books (3.01), Electronics (3.00), Home (3.00), and Baby (3.00)</a:t>
            </a:r>
            <a:r>
              <a:rPr lang="en-US" altLang="en-US"/>
              <a:t>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Categories such as Computers, Shoes, Automotive, Pet, and Fashion also maintain ratings close to 3.00, indicating relatively consistent customer feedback across categories.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small variation in ratings suggests that customer satisfaction levels are fairly similar across most product categories.</a:t>
            </a:r>
            <a:endParaRPr lang="en-US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385445" y="438150"/>
            <a:ext cx="1121727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sym typeface="+mn-ea"/>
              </a:rPr>
              <a:t>      Actionable Insights:</a:t>
            </a:r>
            <a:endParaRPr lang="en-US" altLang="en-US" b="1"/>
          </a:p>
          <a:p>
            <a:pPr marL="342900" indent="-342900">
              <a:buAutoNum type="arabicPeriod"/>
            </a:pPr>
            <a:r>
              <a:rPr lang="en-US" altLang="en-US">
                <a:sym typeface="+mn-ea"/>
              </a:rPr>
              <a:t>Identify the factors contributing to higher ratings in categories like Grocery and Books and replicate those strategies across other categories.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>
                <a:sym typeface="+mn-ea"/>
              </a:rPr>
              <a:t>Monitor customer feedback to improve product quality and seller performance in lower-rated categories.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>
                <a:sym typeface="+mn-ea"/>
              </a:rPr>
              <a:t>Promote highly rated categories in marketing campaigns and recommendations to build customer trust.</a:t>
            </a:r>
            <a:endParaRPr lang="en-US"/>
          </a:p>
        </p:txBody>
      </p:sp>
      <p:pic>
        <p:nvPicPr>
          <p:cNvPr id="4" name="Picture 3" descr="newplot (81)"/>
          <p:cNvPicPr>
            <a:picLocks noChangeAspect="1"/>
          </p:cNvPicPr>
          <p:nvPr/>
        </p:nvPicPr>
        <p:blipFill>
          <a:blip r:embed="rId1"/>
          <a:srcRect l="2785" t="16000" r="1511" b="3000"/>
          <a:stretch>
            <a:fillRect/>
          </a:stretch>
        </p:blipFill>
        <p:spPr>
          <a:xfrm>
            <a:off x="1776095" y="2066925"/>
            <a:ext cx="8640445" cy="467931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52095" y="571500"/>
            <a:ext cx="1094994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Top 10 Sellers with Lowest Rating 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seller </a:t>
            </a:r>
            <a:r>
              <a:rPr lang="en-US" altLang="en-US" b="1">
                <a:highlight>
                  <a:srgbClr val="FFFF00"/>
                </a:highlight>
              </a:rPr>
              <a:t>sel_ffplat10d2nf</a:t>
            </a:r>
            <a:r>
              <a:rPr lang="en-US" altLang="en-US"/>
              <a:t> has the lowest average rating at </a:t>
            </a:r>
            <a:r>
              <a:rPr lang="en-US" altLang="en-US" b="1">
                <a:highlight>
                  <a:srgbClr val="FFFF00"/>
                </a:highlight>
              </a:rPr>
              <a:t>2.17</a:t>
            </a:r>
            <a:r>
              <a:rPr lang="en-US" altLang="en-US"/>
              <a:t>, making them the </a:t>
            </a:r>
            <a:r>
              <a:rPr lang="en-US" altLang="en-US" b="1">
                <a:highlight>
                  <a:srgbClr val="FFFF00"/>
                </a:highlight>
              </a:rPr>
              <a:t>lowest-performing seller in terms of customer satisfaction.</a:t>
            </a:r>
            <a:endParaRPr lang="en-US" altLang="en-US" b="1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Other low-rated sellers include </a:t>
            </a:r>
            <a:r>
              <a:rPr lang="en-US" altLang="en-US" b="1">
                <a:highlight>
                  <a:srgbClr val="FFFF00"/>
                </a:highlight>
              </a:rPr>
              <a:t>sel_zjqbwxts9czw (2.19), sel_0rxog3hg57vu (2.24), and sel_ot3pnemeg8dr (2.24)</a:t>
            </a:r>
            <a:r>
              <a:rPr lang="en-US" altLang="en-US"/>
              <a:t>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All bottom-performing sellers have ratings in the range of 2.17 to 2.31, which is significantly below the platform average of 3.00.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This indicates that these sellers may be facing issues related to product quality, delivery delays, or poor customer service.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    </a:t>
            </a:r>
            <a:r>
              <a:rPr lang="en-US" altLang="en-US" b="1"/>
              <a:t>Actionable Insights:</a:t>
            </a:r>
            <a:endParaRPr lang="en-US" altLang="en-US" b="1"/>
          </a:p>
          <a:p>
            <a:pPr marL="342900" indent="-342900">
              <a:buAutoNum type="arabicPeriod"/>
            </a:pPr>
            <a:r>
              <a:rPr lang="en-US" altLang="en-US"/>
              <a:t>Identify and address issues faced by these sellers through performance monitoring and feedback analysis.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Provide training or guidelines to improve product quality, packaging, and delivery standards.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Implement stricter quality checks or penalties for consistently low-rated sellers to maintain platform standards.</a:t>
            </a:r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newplot (82)"/>
          <p:cNvPicPr>
            <a:picLocks noChangeAspect="1"/>
          </p:cNvPicPr>
          <p:nvPr/>
        </p:nvPicPr>
        <p:blipFill>
          <a:blip r:embed="rId1"/>
          <a:srcRect t="4923" b="4615"/>
          <a:stretch>
            <a:fillRect/>
          </a:stretch>
        </p:blipFill>
        <p:spPr>
          <a:xfrm>
            <a:off x="885825" y="542925"/>
            <a:ext cx="10420350" cy="56007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4034155" y="314325"/>
            <a:ext cx="41243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ym typeface="+mn-ea"/>
              </a:rPr>
              <a:t>8.Advanced Business Question</a:t>
            </a:r>
            <a:endParaRPr lang="en-US" altLang="en-US" sz="2400" b="1"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25120" y="1167765"/>
            <a:ext cx="1102677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Top 5 Months with Highest Revenue 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>
                <a:highlight>
                  <a:srgbClr val="FFFF00"/>
                </a:highlight>
              </a:rPr>
              <a:t>July</a:t>
            </a:r>
            <a:r>
              <a:rPr lang="en-US" altLang="en-US"/>
              <a:t> generated the highest revenue of approximately </a:t>
            </a:r>
            <a:r>
              <a:rPr lang="en-US" altLang="en-US" b="1">
                <a:highlight>
                  <a:srgbClr val="FFFF00"/>
                </a:highlight>
              </a:rPr>
              <a:t>₹34.67M</a:t>
            </a:r>
            <a:r>
              <a:rPr lang="en-US" altLang="en-US"/>
              <a:t>, making it the peak sales month.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Other high-performing months include </a:t>
            </a:r>
            <a:r>
              <a:rPr lang="en-US" altLang="en-US" b="1">
                <a:highlight>
                  <a:srgbClr val="FFFF00"/>
                </a:highlight>
              </a:rPr>
              <a:t>January (₹34.47M), May (₹34.40M), August (₹34.35M), and March (₹34.34M).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revenue difference among the top 5 months is relatively small, indicating stable demand with slight seasonal peaks.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Mid-year months like May, July, and August show strong performance, suggesting possible influence of seasonal demand or promotional activities.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    </a:t>
            </a:r>
            <a:r>
              <a:rPr lang="en-US" altLang="en-US" b="1"/>
              <a:t>Actionable Insights: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Focus marketing campaigns and discounts during July and nearby months to maximize revenue.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Analyze what drives sales in top-performing months (festivals, offers, demand trends) and replicate those strategies.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Plan inventory and logistics in advance for these peak months to avoid stockouts and delays.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newplot (8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125" y="857250"/>
            <a:ext cx="1042035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58775" y="695325"/>
            <a:ext cx="1147381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Top 10 Customers by Lifetime Value (CLV) 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customer </a:t>
            </a:r>
            <a:r>
              <a:rPr lang="en-US" altLang="en-US" b="1">
                <a:highlight>
                  <a:srgbClr val="FFFF00"/>
                </a:highlight>
              </a:rPr>
              <a:t>cus_b5exs5bqgmju</a:t>
            </a:r>
            <a:r>
              <a:rPr lang="en-US" altLang="en-US"/>
              <a:t> has the highest lifetime value at </a:t>
            </a:r>
            <a:r>
              <a:rPr lang="en-US" altLang="en-US" b="1">
                <a:highlight>
                  <a:srgbClr val="FFFF00"/>
                </a:highlight>
              </a:rPr>
              <a:t>₹8655.41</a:t>
            </a:r>
            <a:r>
              <a:rPr lang="en-US" altLang="en-US"/>
              <a:t>, making them the most valuable customer for the business.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Other high-value customers include</a:t>
            </a:r>
            <a:r>
              <a:rPr lang="en-US" altLang="en-US" b="1">
                <a:highlight>
                  <a:srgbClr val="FFFF00"/>
                </a:highlight>
              </a:rPr>
              <a:t> cus_u9msj330iuu8 (₹8077.28), cus_hjsedznbbpyw (₹8050.40), and cus_5cg5tjzf41ie (₹7996.30).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top 10 customers all have CLV in the range of approximately ₹7266 to ₹8655, indicating a group of premium, high-spending customers.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These customers contribute significantly more revenue compared to the average customer, highlighting the importance of customer retention and loyalty.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   </a:t>
            </a:r>
            <a:r>
              <a:rPr lang="en-US" altLang="en-US" b="1"/>
              <a:t> Actionable Insights:</a:t>
            </a:r>
            <a:endParaRPr lang="en-US" altLang="en-US" b="1"/>
          </a:p>
          <a:p>
            <a:pPr marL="342900" indent="-342900">
              <a:buAutoNum type="arabicPeriod"/>
            </a:pPr>
            <a:r>
              <a:rPr lang="en-US" altLang="en-US"/>
              <a:t>Create loyalty programs, rewards, or exclusive offers for high-value customers to retain them.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Use personalized marketing (emails, recommendations) to increase repeat purchases from these customers.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Analyze their buying behavior to identify patterns and target similar high-value customer segments.</a:t>
            </a:r>
            <a:endParaRPr lang="en-US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newplot (8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25" y="847725"/>
            <a:ext cx="1042035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54000" y="400050"/>
            <a:ext cx="114554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Calculate the percentage of customers who made repeat purchases during a period to measure customer loyalty: 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</a:t>
            </a:r>
            <a:r>
              <a:rPr lang="en-US" altLang="en-US" b="1">
                <a:highlight>
                  <a:srgbClr val="FFFF00"/>
                </a:highlight>
              </a:rPr>
              <a:t>customer retention rate is 96.59%</a:t>
            </a:r>
            <a:r>
              <a:rPr lang="en-US" altLang="en-US"/>
              <a:t>, indicating that a very high percentage of customers are making repeat purchases.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This shows strong customer loyalty and satisfaction, as most customers return to purchase again.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A retention rate above 90% is considered excellent, and this dataset reflects a highly engaged customer base.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It also suggests that the business has an effective customer experience, product quality, and service strategy.</a:t>
            </a:r>
            <a:endParaRPr lang="en-US" altLang="en-US"/>
          </a:p>
          <a:p>
            <a:pPr indent="0">
              <a:buFont typeface="Arial" panose="020B0604020202020204" pitchFamily="34" charset="0"/>
              <a:buNone/>
            </a:pPr>
            <a:endParaRPr lang="en-US" altLang="en-US"/>
          </a:p>
          <a:p>
            <a:r>
              <a:rPr lang="en-US" altLang="en-US" b="1"/>
              <a:t>       Actionable Insights:</a:t>
            </a:r>
            <a:endParaRPr lang="en-US" altLang="en-US" b="1"/>
          </a:p>
          <a:p>
            <a:pPr marL="342900" indent="-342900">
              <a:buAutoNum type="arabicPeriod"/>
            </a:pPr>
            <a:r>
              <a:rPr lang="en-US" altLang="en-US"/>
              <a:t>Maintain this high retention by continuing good service, timely delivery, and quality products.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Introduce loyalty programs and personalized offers to further strengthen repeat purchases.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Focus on increasing Customer Lifetime Value (CLV) since retained customers are more profitable.</a:t>
            </a:r>
            <a:endParaRPr lang="en-US" altLang="en-US"/>
          </a:p>
        </p:txBody>
      </p:sp>
      <p:pic>
        <p:nvPicPr>
          <p:cNvPr id="3" name="Picture 2" descr="newplot (85)"/>
          <p:cNvPicPr>
            <a:picLocks noChangeAspect="1"/>
          </p:cNvPicPr>
          <p:nvPr/>
        </p:nvPicPr>
        <p:blipFill>
          <a:blip r:embed="rId1"/>
          <a:srcRect t="7370" b="15833"/>
          <a:stretch>
            <a:fillRect/>
          </a:stretch>
        </p:blipFill>
        <p:spPr>
          <a:xfrm>
            <a:off x="771525" y="4005580"/>
            <a:ext cx="10420350" cy="263334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17195" y="371475"/>
            <a:ext cx="1135824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      Average Basket Size (Items per Order) :</a:t>
            </a:r>
            <a:endParaRPr lang="en-US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</a:t>
            </a:r>
            <a:r>
              <a:rPr lang="en-US" altLang="en-US" b="1">
                <a:highlight>
                  <a:srgbClr val="FFFF00"/>
                </a:highlight>
              </a:rPr>
              <a:t>average basket size is 1.93 items per order</a:t>
            </a:r>
            <a:r>
              <a:rPr lang="en-US" altLang="en-US"/>
              <a:t>, indicating that customers typically purchase </a:t>
            </a:r>
            <a:r>
              <a:rPr lang="en-US" altLang="en-US" b="1">
                <a:highlight>
                  <a:srgbClr val="FFFF00"/>
                </a:highlight>
              </a:rPr>
              <a:t>1 to 2 items per transaction.</a:t>
            </a:r>
            <a:endParaRPr lang="en-US" altLang="en-US" b="1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This suggests that most purchases are single-item focused, with limited multi-product buying behavior.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A basket size below 2 indicates an opportunity to increase cross-selling and upselling.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r>
              <a:rPr lang="en-US" altLang="en-US"/>
              <a:t>     </a:t>
            </a:r>
            <a:r>
              <a:rPr lang="en-US" altLang="en-US" b="1"/>
              <a:t>  Actionable Insights: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Introduce bundle offers and combo deals to encourage customers to buy more items per order.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Use “Frequently Bought Together” recommendations to increase basket size.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Offer free shipping thresholds (e.g., buy 2+ items) to motivate customers to add more products.</a:t>
            </a:r>
            <a:endParaRPr lang="en-US" altLang="en-US"/>
          </a:p>
        </p:txBody>
      </p:sp>
      <p:pic>
        <p:nvPicPr>
          <p:cNvPr id="32" name="Picture 31" descr="newplot (8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25" y="3295650"/>
            <a:ext cx="1042035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5172075" y="390525"/>
            <a:ext cx="18478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ym typeface="+mn-ea"/>
              </a:rPr>
              <a:t>Conclusion</a:t>
            </a:r>
            <a:endParaRPr lang="en-US" altLang="en-US" sz="2400" b="1"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95020" y="1323975"/>
            <a:ext cx="992187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AutoNum type="arabicPeriod"/>
            </a:pPr>
            <a:r>
              <a:rPr lang="en-US" altLang="en-US"/>
              <a:t>The business shows strong and stable performance with consistent revenue trends over time.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A high customer retention rate (96.59%) indicates excellent customer loyalty and satisfaction.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A group of high-value customers (CLV) contributes significantly to overall revenue.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Revenue is well distributed across categories, reducing dependency on a single category.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However, the average basket size (1.93) is low, indicating limited multi-item purchases.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Some sellers have low ratings (~2.2–2.3), highlighting areas for improvement in service and product quality.</a:t>
            </a:r>
            <a:endParaRPr lang="en-US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4915535" y="390525"/>
            <a:ext cx="30283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ym typeface="+mn-ea"/>
              </a:rPr>
              <a:t>Recommendations</a:t>
            </a:r>
            <a:endParaRPr lang="en-US" altLang="en-US" sz="2400" b="1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66420" y="1306195"/>
            <a:ext cx="941705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None/>
            </a:pPr>
            <a:r>
              <a:rPr lang="en-US" altLang="en-US" b="1"/>
              <a:t>1. Increase Average Order Value (AOV):</a:t>
            </a:r>
            <a:endParaRPr lang="en-US" altLang="en-US" b="1"/>
          </a:p>
          <a:p>
            <a:r>
              <a:rPr lang="en-US" altLang="en-US"/>
              <a:t>Introduce bundle offers, combo deals, and upselling strategies.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2.Improve Low-Performing Sellers:</a:t>
            </a:r>
            <a:endParaRPr lang="en-US" altLang="en-US" b="1"/>
          </a:p>
          <a:p>
            <a:r>
              <a:rPr lang="en-US" altLang="en-US"/>
              <a:t>Monitor seller performance and provide training to improve ratings and service quality.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3.Leverage High-Value Customers:</a:t>
            </a:r>
            <a:endParaRPr lang="en-US" altLang="en-US" b="1"/>
          </a:p>
          <a:p>
            <a:r>
              <a:rPr lang="en-US" altLang="en-US"/>
              <a:t>Offer loyalty programs, exclusive deals, and personalized recommendations.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4.Capitalize on Peak Months:</a:t>
            </a:r>
            <a:endParaRPr lang="en-US" altLang="en-US" b="1"/>
          </a:p>
          <a:p>
            <a:r>
              <a:rPr lang="en-US" altLang="en-US"/>
              <a:t>Focus marketing campaigns during top-performing months like July and January.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5.Enhance Customer Experience:</a:t>
            </a:r>
            <a:endParaRPr lang="en-US" altLang="en-US" b="1"/>
          </a:p>
          <a:p>
            <a:r>
              <a:rPr lang="en-US" altLang="en-US"/>
              <a:t>Maintain fast delivery, product quality, and customer support to sustain high retention.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26366</Words>
  <Application>WPS Presentation</Application>
  <PresentationFormat>Widescreen</PresentationFormat>
  <Paragraphs>460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3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welcome</dc:creator>
  <cp:lastModifiedBy>welcome</cp:lastModifiedBy>
  <cp:revision>87</cp:revision>
  <dcterms:created xsi:type="dcterms:W3CDTF">2025-07-23T00:59:00Z</dcterms:created>
  <dcterms:modified xsi:type="dcterms:W3CDTF">2026-03-19T09:47:31Z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924552BE889F43C2AB0237066268330E_11</vt:lpwstr>
  </property>
  <property fmtid="{D5CDD505-2E9C-101B-9397-08002B2CF9AE}" pid="3" name="KSOProductBuildVer">
    <vt:lpwstr>1033-12.2.0.23196</vt:lpwstr>
  </property>
</Properties>
</file>